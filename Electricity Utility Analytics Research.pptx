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5"/>
  </p:notesMasterIdLst>
  <p:sldIdLst>
    <p:sldId id="256" r:id="rId2"/>
    <p:sldId id="260" r:id="rId3"/>
    <p:sldId id="296" r:id="rId4"/>
    <p:sldId id="261" r:id="rId5"/>
    <p:sldId id="259" r:id="rId6"/>
    <p:sldId id="273" r:id="rId7"/>
    <p:sldId id="298" r:id="rId8"/>
    <p:sldId id="297" r:id="rId9"/>
    <p:sldId id="258" r:id="rId10"/>
    <p:sldId id="302" r:id="rId11"/>
    <p:sldId id="299" r:id="rId12"/>
    <p:sldId id="300" r:id="rId13"/>
    <p:sldId id="301" r:id="rId14"/>
  </p:sldIdLst>
  <p:sldSz cx="9144000" cy="5143500" type="screen16x9"/>
  <p:notesSz cx="6858000" cy="9144000"/>
  <p:embeddedFontLst>
    <p:embeddedFont>
      <p:font typeface="Anaheim" panose="020B0604020202020204" charset="0"/>
      <p:regular r:id="rId16"/>
      <p:bold r:id="rId17"/>
    </p:embeddedFont>
    <p:embeddedFont>
      <p:font typeface="Arial Unicode MS" panose="020B0604020202020204" pitchFamily="34" charset="-128"/>
      <p:regular r:id="rId18"/>
    </p:embeddedFont>
    <p:embeddedFont>
      <p:font typeface="Cambria" panose="02040503050406030204" pitchFamily="18" charset="0"/>
      <p:regular r:id="rId19"/>
      <p:bold r:id="rId20"/>
      <p:italic r:id="rId21"/>
      <p:boldItalic r:id="rId22"/>
    </p:embeddedFont>
    <p:embeddedFont>
      <p:font typeface="Century Gothic" panose="020B0502020202020204" pitchFamily="34" charset="0"/>
      <p:regular r:id="rId23"/>
      <p:bold r:id="rId24"/>
      <p:italic r:id="rId25"/>
      <p:boldItalic r:id="rId26"/>
    </p:embeddedFont>
    <p:embeddedFont>
      <p:font typeface="Consolas" panose="020B0609020204030204" pitchFamily="49" charset="0"/>
      <p:regular r:id="rId27"/>
      <p:bold r:id="rId28"/>
      <p:italic r:id="rId29"/>
      <p:boldItalic r:id="rId30"/>
    </p:embeddedFont>
    <p:embeddedFont>
      <p:font typeface="Lato" panose="020F0502020204030203"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5C084D-A9EA-949A-C67B-79A1DC97405B}" v="51" dt="2025-11-12T10:43:39.670"/>
  </p1510:revLst>
</p1510:revInfo>
</file>

<file path=ppt/tableStyles.xml><?xml version="1.0" encoding="utf-8"?>
<a:tblStyleLst xmlns:a="http://schemas.openxmlformats.org/drawingml/2006/main" def="{E71A8D9F-56B7-4438-AB79-FAC8D32DABF1}">
  <a:tblStyle styleId="{E71A8D9F-56B7-4438-AB79-FAC8D32DABF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415DF82-5474-4437-94B4-BF9D6A0CA61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microsoft.com/office/2015/10/relationships/revisionInfo" Target="revisionInfo.xml"/><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8583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9601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8445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140540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1787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2960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2980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200050" y="1241900"/>
            <a:ext cx="4743900" cy="20142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07600" y="3969347"/>
            <a:ext cx="4528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1681050" y="1658663"/>
            <a:ext cx="5781900" cy="1511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4107300" y="1146702"/>
            <a:ext cx="929400" cy="5628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a:spLocks noGrp="1"/>
          </p:cNvSpPr>
          <p:nvPr>
            <p:ph type="subTitle" idx="1"/>
          </p:nvPr>
        </p:nvSpPr>
        <p:spPr>
          <a:xfrm>
            <a:off x="2441700" y="3332568"/>
            <a:ext cx="4260600" cy="653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 name="Google Shape;17;p4"/>
          <p:cNvSpPr txBox="1">
            <a:spLocks noGrp="1"/>
          </p:cNvSpPr>
          <p:nvPr>
            <p:ph type="body" idx="1"/>
          </p:nvPr>
        </p:nvSpPr>
        <p:spPr>
          <a:xfrm>
            <a:off x="720000" y="1169650"/>
            <a:ext cx="7704000" cy="3420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18" name="Google Shape;18;p4"/>
          <p:cNvGrpSpPr/>
          <p:nvPr/>
        </p:nvGrpSpPr>
        <p:grpSpPr>
          <a:xfrm>
            <a:off x="0" y="0"/>
            <a:ext cx="9161100" cy="5143500"/>
            <a:chOff x="0" y="0"/>
            <a:chExt cx="9161100" cy="5143500"/>
          </a:xfrm>
        </p:grpSpPr>
        <p:sp>
          <p:nvSpPr>
            <p:cNvPr id="19" name="Google Shape;19;p4"/>
            <p:cNvSpPr/>
            <p:nvPr/>
          </p:nvSpPr>
          <p:spPr>
            <a:xfrm rot="-5400000">
              <a:off x="4500450" y="482850"/>
              <a:ext cx="160200" cy="9161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20;p4"/>
            <p:cNvSpPr/>
            <p:nvPr/>
          </p:nvSpPr>
          <p:spPr>
            <a:xfrm rot="-5400000">
              <a:off x="4500450" y="-4500450"/>
              <a:ext cx="160200" cy="9161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sp>
        <p:nvSpPr>
          <p:cNvPr id="40" name="Google Shape;40;p7"/>
          <p:cNvSpPr txBox="1">
            <a:spLocks noGrp="1"/>
          </p:cNvSpPr>
          <p:nvPr>
            <p:ph type="title"/>
          </p:nvPr>
        </p:nvSpPr>
        <p:spPr>
          <a:xfrm>
            <a:off x="720000" y="445025"/>
            <a:ext cx="3906300" cy="573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1" name="Google Shape;41;p7"/>
          <p:cNvSpPr txBox="1">
            <a:spLocks noGrp="1"/>
          </p:cNvSpPr>
          <p:nvPr>
            <p:ph type="subTitle" idx="1"/>
          </p:nvPr>
        </p:nvSpPr>
        <p:spPr>
          <a:xfrm>
            <a:off x="720000" y="1227475"/>
            <a:ext cx="3906300" cy="31965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42" name="Google Shape;42;p7"/>
          <p:cNvSpPr>
            <a:spLocks noGrp="1"/>
          </p:cNvSpPr>
          <p:nvPr>
            <p:ph type="pic" idx="2"/>
          </p:nvPr>
        </p:nvSpPr>
        <p:spPr>
          <a:xfrm>
            <a:off x="5453850" y="0"/>
            <a:ext cx="3690000" cy="5143500"/>
          </a:xfrm>
          <a:prstGeom prst="rect">
            <a:avLst/>
          </a:prstGeom>
          <a:noFill/>
          <a:ln>
            <a:noFill/>
          </a:ln>
        </p:spPr>
      </p:sp>
      <p:sp>
        <p:nvSpPr>
          <p:cNvPr id="43" name="Google Shape;43;p7"/>
          <p:cNvSpPr/>
          <p:nvPr/>
        </p:nvSpPr>
        <p:spPr>
          <a:xfrm>
            <a:off x="-5" y="824688"/>
            <a:ext cx="160200" cy="3494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grpSp>
        <p:nvGrpSpPr>
          <p:cNvPr id="47" name="Google Shape;47;p9"/>
          <p:cNvGrpSpPr/>
          <p:nvPr/>
        </p:nvGrpSpPr>
        <p:grpSpPr>
          <a:xfrm>
            <a:off x="0" y="1109725"/>
            <a:ext cx="9143975" cy="3494100"/>
            <a:chOff x="0" y="1109725"/>
            <a:chExt cx="9143975" cy="3494100"/>
          </a:xfrm>
        </p:grpSpPr>
        <p:sp>
          <p:nvSpPr>
            <p:cNvPr id="48" name="Google Shape;48;p9"/>
            <p:cNvSpPr/>
            <p:nvPr/>
          </p:nvSpPr>
          <p:spPr>
            <a:xfrm>
              <a:off x="8983775" y="1109725"/>
              <a:ext cx="160200" cy="3494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 name="Google Shape;49;p9"/>
            <p:cNvSpPr/>
            <p:nvPr/>
          </p:nvSpPr>
          <p:spPr>
            <a:xfrm>
              <a:off x="0" y="1109725"/>
              <a:ext cx="160200" cy="3494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50" name="Google Shape;50;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1" name="Google Shape;51;p9"/>
          <p:cNvSpPr txBox="1">
            <a:spLocks noGrp="1"/>
          </p:cNvSpPr>
          <p:nvPr>
            <p:ph type="subTitle" idx="1"/>
          </p:nvPr>
        </p:nvSpPr>
        <p:spPr>
          <a:xfrm>
            <a:off x="4728088" y="1417975"/>
            <a:ext cx="3699300" cy="28776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 name="Google Shape;52;p9"/>
          <p:cNvSpPr txBox="1">
            <a:spLocks noGrp="1"/>
          </p:cNvSpPr>
          <p:nvPr>
            <p:ph type="subTitle" idx="2"/>
          </p:nvPr>
        </p:nvSpPr>
        <p:spPr>
          <a:xfrm>
            <a:off x="716613" y="1417975"/>
            <a:ext cx="3699300" cy="28776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88"/>
        <p:cNvGrpSpPr/>
        <p:nvPr/>
      </p:nvGrpSpPr>
      <p:grpSpPr>
        <a:xfrm>
          <a:off x="0" y="0"/>
          <a:ext cx="0" cy="0"/>
          <a:chOff x="0" y="0"/>
          <a:chExt cx="0" cy="0"/>
        </a:xfrm>
      </p:grpSpPr>
      <p:sp>
        <p:nvSpPr>
          <p:cNvPr id="89" name="Google Shape;89;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0" name="Google Shape;90;p16"/>
          <p:cNvSpPr txBox="1">
            <a:spLocks noGrp="1"/>
          </p:cNvSpPr>
          <p:nvPr>
            <p:ph type="subTitle" idx="1"/>
          </p:nvPr>
        </p:nvSpPr>
        <p:spPr>
          <a:xfrm>
            <a:off x="1632150" y="1496009"/>
            <a:ext cx="67845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 name="Google Shape;91;p16"/>
          <p:cNvSpPr txBox="1">
            <a:spLocks noGrp="1"/>
          </p:cNvSpPr>
          <p:nvPr>
            <p:ph type="subTitle" idx="2"/>
          </p:nvPr>
        </p:nvSpPr>
        <p:spPr>
          <a:xfrm>
            <a:off x="1632150" y="2393316"/>
            <a:ext cx="67845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 name="Google Shape;92;p16"/>
          <p:cNvSpPr txBox="1">
            <a:spLocks noGrp="1"/>
          </p:cNvSpPr>
          <p:nvPr>
            <p:ph type="subTitle" idx="3"/>
          </p:nvPr>
        </p:nvSpPr>
        <p:spPr>
          <a:xfrm>
            <a:off x="1639527" y="3290622"/>
            <a:ext cx="67845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3" name="Google Shape;93;p16"/>
          <p:cNvSpPr txBox="1">
            <a:spLocks noGrp="1"/>
          </p:cNvSpPr>
          <p:nvPr>
            <p:ph type="subTitle" idx="4"/>
          </p:nvPr>
        </p:nvSpPr>
        <p:spPr>
          <a:xfrm>
            <a:off x="1639527" y="4187929"/>
            <a:ext cx="67845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4" name="Google Shape;94;p16"/>
          <p:cNvSpPr txBox="1">
            <a:spLocks noGrp="1"/>
          </p:cNvSpPr>
          <p:nvPr>
            <p:ph type="title" idx="5" hasCustomPrompt="1"/>
          </p:nvPr>
        </p:nvSpPr>
        <p:spPr>
          <a:xfrm>
            <a:off x="720000" y="1109725"/>
            <a:ext cx="865500" cy="759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6"/>
          <p:cNvSpPr txBox="1">
            <a:spLocks noGrp="1"/>
          </p:cNvSpPr>
          <p:nvPr>
            <p:ph type="title" idx="6" hasCustomPrompt="1"/>
          </p:nvPr>
        </p:nvSpPr>
        <p:spPr>
          <a:xfrm>
            <a:off x="726775" y="2897124"/>
            <a:ext cx="865500" cy="759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6" name="Google Shape;96;p16"/>
          <p:cNvSpPr txBox="1">
            <a:spLocks noGrp="1"/>
          </p:cNvSpPr>
          <p:nvPr>
            <p:ph type="title" idx="7" hasCustomPrompt="1"/>
          </p:nvPr>
        </p:nvSpPr>
        <p:spPr>
          <a:xfrm>
            <a:off x="720025" y="2003425"/>
            <a:ext cx="865500" cy="759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6"/>
          <p:cNvSpPr txBox="1">
            <a:spLocks noGrp="1"/>
          </p:cNvSpPr>
          <p:nvPr>
            <p:ph type="title" idx="8" hasCustomPrompt="1"/>
          </p:nvPr>
        </p:nvSpPr>
        <p:spPr>
          <a:xfrm>
            <a:off x="726800" y="3790824"/>
            <a:ext cx="865500" cy="759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 name="Google Shape;98;p16"/>
          <p:cNvSpPr txBox="1">
            <a:spLocks noGrp="1"/>
          </p:cNvSpPr>
          <p:nvPr>
            <p:ph type="subTitle" idx="9"/>
          </p:nvPr>
        </p:nvSpPr>
        <p:spPr>
          <a:xfrm>
            <a:off x="1632150" y="1109725"/>
            <a:ext cx="6784500" cy="447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1600">
                <a:solidFill>
                  <a:schemeClr val="dk1"/>
                </a:solidFill>
                <a:latin typeface="Rubik"/>
                <a:ea typeface="Rubik"/>
                <a:cs typeface="Rubik"/>
                <a:sym typeface="Rubik"/>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9" name="Google Shape;99;p16"/>
          <p:cNvSpPr txBox="1">
            <a:spLocks noGrp="1"/>
          </p:cNvSpPr>
          <p:nvPr>
            <p:ph type="subTitle" idx="13"/>
          </p:nvPr>
        </p:nvSpPr>
        <p:spPr>
          <a:xfrm>
            <a:off x="1632150" y="2007181"/>
            <a:ext cx="6784500" cy="447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1600">
                <a:solidFill>
                  <a:schemeClr val="dk1"/>
                </a:solidFill>
                <a:latin typeface="Rubik"/>
                <a:ea typeface="Rubik"/>
                <a:cs typeface="Rubik"/>
                <a:sym typeface="Rubik"/>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0" name="Google Shape;100;p16"/>
          <p:cNvSpPr txBox="1">
            <a:spLocks noGrp="1"/>
          </p:cNvSpPr>
          <p:nvPr>
            <p:ph type="subTitle" idx="14"/>
          </p:nvPr>
        </p:nvSpPr>
        <p:spPr>
          <a:xfrm>
            <a:off x="1639527" y="2904638"/>
            <a:ext cx="6784500" cy="447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1600">
                <a:solidFill>
                  <a:schemeClr val="dk1"/>
                </a:solidFill>
                <a:latin typeface="Rubik"/>
                <a:ea typeface="Rubik"/>
                <a:cs typeface="Rubik"/>
                <a:sym typeface="Rubik"/>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1" name="Google Shape;101;p16"/>
          <p:cNvSpPr txBox="1">
            <a:spLocks noGrp="1"/>
          </p:cNvSpPr>
          <p:nvPr>
            <p:ph type="subTitle" idx="15"/>
          </p:nvPr>
        </p:nvSpPr>
        <p:spPr>
          <a:xfrm>
            <a:off x="1639527" y="3802094"/>
            <a:ext cx="6784500" cy="447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1600">
                <a:solidFill>
                  <a:schemeClr val="dk1"/>
                </a:solidFill>
                <a:latin typeface="Rubik"/>
                <a:ea typeface="Rubik"/>
                <a:cs typeface="Rubik"/>
                <a:sym typeface="Rubik"/>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2" name="Google Shape;102;p16"/>
          <p:cNvSpPr/>
          <p:nvPr/>
        </p:nvSpPr>
        <p:spPr>
          <a:xfrm>
            <a:off x="8988970" y="1109725"/>
            <a:ext cx="160200" cy="3494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26"/>
        <p:cNvGrpSpPr/>
        <p:nvPr/>
      </p:nvGrpSpPr>
      <p:grpSpPr>
        <a:xfrm>
          <a:off x="0" y="0"/>
          <a:ext cx="0" cy="0"/>
          <a:chOff x="0" y="0"/>
          <a:chExt cx="0" cy="0"/>
        </a:xfrm>
      </p:grpSpPr>
      <p:grpSp>
        <p:nvGrpSpPr>
          <p:cNvPr id="127" name="Google Shape;127;p19"/>
          <p:cNvGrpSpPr/>
          <p:nvPr/>
        </p:nvGrpSpPr>
        <p:grpSpPr>
          <a:xfrm>
            <a:off x="-5" y="-12"/>
            <a:ext cx="9144005" cy="5143500"/>
            <a:chOff x="-5" y="-12"/>
            <a:chExt cx="9144005" cy="5143500"/>
          </a:xfrm>
        </p:grpSpPr>
        <p:sp>
          <p:nvSpPr>
            <p:cNvPr id="128" name="Google Shape;128;p19"/>
            <p:cNvSpPr/>
            <p:nvPr/>
          </p:nvSpPr>
          <p:spPr>
            <a:xfrm rot="5400000">
              <a:off x="1666945" y="-1666962"/>
              <a:ext cx="160200" cy="3494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29" name="Google Shape;129;p19"/>
            <p:cNvCxnSpPr/>
            <p:nvPr/>
          </p:nvCxnSpPr>
          <p:spPr>
            <a:xfrm>
              <a:off x="-5" y="161717"/>
              <a:ext cx="4586100" cy="0"/>
            </a:xfrm>
            <a:prstGeom prst="straightConnector1">
              <a:avLst/>
            </a:prstGeom>
            <a:noFill/>
            <a:ln w="9525" cap="flat" cmpd="sng">
              <a:solidFill>
                <a:schemeClr val="accent2"/>
              </a:solidFill>
              <a:prstDash val="solid"/>
              <a:round/>
              <a:headEnd type="none" w="med" len="med"/>
              <a:tailEnd type="none" w="med" len="med"/>
            </a:ln>
          </p:spPr>
        </p:cxnSp>
        <p:grpSp>
          <p:nvGrpSpPr>
            <p:cNvPr id="130" name="Google Shape;130;p19"/>
            <p:cNvGrpSpPr/>
            <p:nvPr/>
          </p:nvGrpSpPr>
          <p:grpSpPr>
            <a:xfrm>
              <a:off x="4586100" y="4983288"/>
              <a:ext cx="4557900" cy="160200"/>
              <a:chOff x="4586100" y="4983288"/>
              <a:chExt cx="4557900" cy="160200"/>
            </a:xfrm>
          </p:grpSpPr>
          <p:sp>
            <p:nvSpPr>
              <p:cNvPr id="131" name="Google Shape;131;p19"/>
              <p:cNvSpPr/>
              <p:nvPr/>
            </p:nvSpPr>
            <p:spPr>
              <a:xfrm rot="5400000">
                <a:off x="7316845" y="3316338"/>
                <a:ext cx="160200" cy="3494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2" name="Google Shape;132;p19"/>
              <p:cNvCxnSpPr/>
              <p:nvPr/>
            </p:nvCxnSpPr>
            <p:spPr>
              <a:xfrm>
                <a:off x="4586100" y="4983300"/>
                <a:ext cx="4557900" cy="0"/>
              </a:xfrm>
              <a:prstGeom prst="straightConnector1">
                <a:avLst/>
              </a:prstGeom>
              <a:noFill/>
              <a:ln w="9525" cap="flat" cmpd="sng">
                <a:solidFill>
                  <a:schemeClr val="lt2"/>
                </a:solidFill>
                <a:prstDash val="solid"/>
                <a:round/>
                <a:headEnd type="none" w="med" len="med"/>
                <a:tailEnd type="none"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3"/>
        <p:cNvGrpSpPr/>
        <p:nvPr/>
      </p:nvGrpSpPr>
      <p:grpSpPr>
        <a:xfrm>
          <a:off x="0" y="0"/>
          <a:ext cx="0" cy="0"/>
          <a:chOff x="0" y="0"/>
          <a:chExt cx="0" cy="0"/>
        </a:xfrm>
      </p:grpSpPr>
      <p:grpSp>
        <p:nvGrpSpPr>
          <p:cNvPr id="134" name="Google Shape;134;p20"/>
          <p:cNvGrpSpPr/>
          <p:nvPr/>
        </p:nvGrpSpPr>
        <p:grpSpPr>
          <a:xfrm>
            <a:off x="-5" y="0"/>
            <a:ext cx="9149175" cy="5143500"/>
            <a:chOff x="-5" y="0"/>
            <a:chExt cx="9149175" cy="5143500"/>
          </a:xfrm>
        </p:grpSpPr>
        <p:sp>
          <p:nvSpPr>
            <p:cNvPr id="135" name="Google Shape;135;p20"/>
            <p:cNvSpPr/>
            <p:nvPr/>
          </p:nvSpPr>
          <p:spPr>
            <a:xfrm>
              <a:off x="8988970" y="1649400"/>
              <a:ext cx="160200" cy="3494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6" name="Google Shape;136;p20"/>
            <p:cNvSpPr/>
            <p:nvPr/>
          </p:nvSpPr>
          <p:spPr>
            <a:xfrm>
              <a:off x="-5" y="0"/>
              <a:ext cx="160200" cy="3494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 name="Google Shape;137;p20"/>
            <p:cNvSpPr/>
            <p:nvPr/>
          </p:nvSpPr>
          <p:spPr>
            <a:xfrm rot="5400000">
              <a:off x="7316845" y="-1666950"/>
              <a:ext cx="160200" cy="3494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 name="Google Shape;138;p20"/>
            <p:cNvSpPr/>
            <p:nvPr/>
          </p:nvSpPr>
          <p:spPr>
            <a:xfrm rot="5400000">
              <a:off x="1666945" y="3316350"/>
              <a:ext cx="160200" cy="3494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800"/>
              <a:buFont typeface="Rubik"/>
              <a:buNone/>
              <a:defRPr sz="2800">
                <a:solidFill>
                  <a:schemeClr val="dk1"/>
                </a:solidFill>
                <a:latin typeface="Rubik"/>
                <a:ea typeface="Rubik"/>
                <a:cs typeface="Rubik"/>
                <a:sym typeface="Rubik"/>
              </a:defRPr>
            </a:lvl1pPr>
            <a:lvl2pPr lvl="1" algn="ctr" rtl="0">
              <a:spcBef>
                <a:spcPts val="0"/>
              </a:spcBef>
              <a:spcAft>
                <a:spcPts val="0"/>
              </a:spcAft>
              <a:buClr>
                <a:schemeClr val="dk1"/>
              </a:buClr>
              <a:buSzPts val="3000"/>
              <a:buFont typeface="Rubik"/>
              <a:buNone/>
              <a:defRPr sz="3000" b="1">
                <a:solidFill>
                  <a:schemeClr val="dk1"/>
                </a:solidFill>
                <a:latin typeface="Rubik"/>
                <a:ea typeface="Rubik"/>
                <a:cs typeface="Rubik"/>
                <a:sym typeface="Rubik"/>
              </a:defRPr>
            </a:lvl2pPr>
            <a:lvl3pPr lvl="2" algn="ctr" rtl="0">
              <a:spcBef>
                <a:spcPts val="0"/>
              </a:spcBef>
              <a:spcAft>
                <a:spcPts val="0"/>
              </a:spcAft>
              <a:buClr>
                <a:schemeClr val="dk1"/>
              </a:buClr>
              <a:buSzPts val="3000"/>
              <a:buFont typeface="Rubik"/>
              <a:buNone/>
              <a:defRPr sz="3000" b="1">
                <a:solidFill>
                  <a:schemeClr val="dk1"/>
                </a:solidFill>
                <a:latin typeface="Rubik"/>
                <a:ea typeface="Rubik"/>
                <a:cs typeface="Rubik"/>
                <a:sym typeface="Rubik"/>
              </a:defRPr>
            </a:lvl3pPr>
            <a:lvl4pPr lvl="3" algn="ctr" rtl="0">
              <a:spcBef>
                <a:spcPts val="0"/>
              </a:spcBef>
              <a:spcAft>
                <a:spcPts val="0"/>
              </a:spcAft>
              <a:buClr>
                <a:schemeClr val="dk1"/>
              </a:buClr>
              <a:buSzPts val="3000"/>
              <a:buFont typeface="Rubik"/>
              <a:buNone/>
              <a:defRPr sz="3000" b="1">
                <a:solidFill>
                  <a:schemeClr val="dk1"/>
                </a:solidFill>
                <a:latin typeface="Rubik"/>
                <a:ea typeface="Rubik"/>
                <a:cs typeface="Rubik"/>
                <a:sym typeface="Rubik"/>
              </a:defRPr>
            </a:lvl4pPr>
            <a:lvl5pPr lvl="4" algn="ctr" rtl="0">
              <a:spcBef>
                <a:spcPts val="0"/>
              </a:spcBef>
              <a:spcAft>
                <a:spcPts val="0"/>
              </a:spcAft>
              <a:buClr>
                <a:schemeClr val="dk1"/>
              </a:buClr>
              <a:buSzPts val="3000"/>
              <a:buFont typeface="Rubik"/>
              <a:buNone/>
              <a:defRPr sz="3000" b="1">
                <a:solidFill>
                  <a:schemeClr val="dk1"/>
                </a:solidFill>
                <a:latin typeface="Rubik"/>
                <a:ea typeface="Rubik"/>
                <a:cs typeface="Rubik"/>
                <a:sym typeface="Rubik"/>
              </a:defRPr>
            </a:lvl5pPr>
            <a:lvl6pPr lvl="5" algn="ctr" rtl="0">
              <a:spcBef>
                <a:spcPts val="0"/>
              </a:spcBef>
              <a:spcAft>
                <a:spcPts val="0"/>
              </a:spcAft>
              <a:buClr>
                <a:schemeClr val="dk1"/>
              </a:buClr>
              <a:buSzPts val="3000"/>
              <a:buFont typeface="Rubik"/>
              <a:buNone/>
              <a:defRPr sz="3000" b="1">
                <a:solidFill>
                  <a:schemeClr val="dk1"/>
                </a:solidFill>
                <a:latin typeface="Rubik"/>
                <a:ea typeface="Rubik"/>
                <a:cs typeface="Rubik"/>
                <a:sym typeface="Rubik"/>
              </a:defRPr>
            </a:lvl6pPr>
            <a:lvl7pPr lvl="6" algn="ctr" rtl="0">
              <a:spcBef>
                <a:spcPts val="0"/>
              </a:spcBef>
              <a:spcAft>
                <a:spcPts val="0"/>
              </a:spcAft>
              <a:buClr>
                <a:schemeClr val="dk1"/>
              </a:buClr>
              <a:buSzPts val="3000"/>
              <a:buFont typeface="Rubik"/>
              <a:buNone/>
              <a:defRPr sz="3000" b="1">
                <a:solidFill>
                  <a:schemeClr val="dk1"/>
                </a:solidFill>
                <a:latin typeface="Rubik"/>
                <a:ea typeface="Rubik"/>
                <a:cs typeface="Rubik"/>
                <a:sym typeface="Rubik"/>
              </a:defRPr>
            </a:lvl7pPr>
            <a:lvl8pPr lvl="7" algn="ctr" rtl="0">
              <a:spcBef>
                <a:spcPts val="0"/>
              </a:spcBef>
              <a:spcAft>
                <a:spcPts val="0"/>
              </a:spcAft>
              <a:buClr>
                <a:schemeClr val="dk1"/>
              </a:buClr>
              <a:buSzPts val="3000"/>
              <a:buFont typeface="Rubik"/>
              <a:buNone/>
              <a:defRPr sz="3000" b="1">
                <a:solidFill>
                  <a:schemeClr val="dk1"/>
                </a:solidFill>
                <a:latin typeface="Rubik"/>
                <a:ea typeface="Rubik"/>
                <a:cs typeface="Rubik"/>
                <a:sym typeface="Rubik"/>
              </a:defRPr>
            </a:lvl8pPr>
            <a:lvl9pPr lvl="8" algn="ctr" rtl="0">
              <a:spcBef>
                <a:spcPts val="0"/>
              </a:spcBef>
              <a:spcAft>
                <a:spcPts val="0"/>
              </a:spcAft>
              <a:buClr>
                <a:schemeClr val="dk1"/>
              </a:buClr>
              <a:buSzPts val="3000"/>
              <a:buFont typeface="Rubik"/>
              <a:buNone/>
              <a:defRPr sz="3000" b="1">
                <a:solidFill>
                  <a:schemeClr val="dk1"/>
                </a:solidFill>
                <a:latin typeface="Rubik"/>
                <a:ea typeface="Rubik"/>
                <a:cs typeface="Rubik"/>
                <a:sym typeface="Rubik"/>
              </a:defRPr>
            </a:lvl9pPr>
          </a:lstStyle>
          <a:p>
            <a:endParaRPr/>
          </a:p>
        </p:txBody>
      </p:sp>
      <p:sp>
        <p:nvSpPr>
          <p:cNvPr id="7" name="Google Shape;7;p1"/>
          <p:cNvSpPr txBox="1">
            <a:spLocks noGrp="1"/>
          </p:cNvSpPr>
          <p:nvPr>
            <p:ph type="body" idx="1"/>
          </p:nvPr>
        </p:nvSpPr>
        <p:spPr>
          <a:xfrm>
            <a:off x="713225" y="1123300"/>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ibre Franklin"/>
              <a:buChar char="●"/>
              <a:defRPr>
                <a:solidFill>
                  <a:schemeClr val="dk1"/>
                </a:solidFill>
                <a:latin typeface="Libre Franklin"/>
                <a:ea typeface="Libre Franklin"/>
                <a:cs typeface="Libre Franklin"/>
                <a:sym typeface="Libre Franklin"/>
              </a:defRPr>
            </a:lvl1pPr>
            <a:lvl2pPr marL="914400" lvl="1" indent="-317500">
              <a:lnSpc>
                <a:spcPct val="115000"/>
              </a:lnSpc>
              <a:spcBef>
                <a:spcPts val="0"/>
              </a:spcBef>
              <a:spcAft>
                <a:spcPts val="0"/>
              </a:spcAft>
              <a:buClr>
                <a:schemeClr val="dk1"/>
              </a:buClr>
              <a:buSzPts val="1400"/>
              <a:buFont typeface="Libre Franklin"/>
              <a:buChar char="○"/>
              <a:defRPr>
                <a:solidFill>
                  <a:schemeClr val="dk1"/>
                </a:solidFill>
                <a:latin typeface="Libre Franklin"/>
                <a:ea typeface="Libre Franklin"/>
                <a:cs typeface="Libre Franklin"/>
                <a:sym typeface="Libre Franklin"/>
              </a:defRPr>
            </a:lvl2pPr>
            <a:lvl3pPr marL="1371600" lvl="2" indent="-317500">
              <a:lnSpc>
                <a:spcPct val="115000"/>
              </a:lnSpc>
              <a:spcBef>
                <a:spcPts val="0"/>
              </a:spcBef>
              <a:spcAft>
                <a:spcPts val="0"/>
              </a:spcAft>
              <a:buClr>
                <a:schemeClr val="dk1"/>
              </a:buClr>
              <a:buSzPts val="1400"/>
              <a:buFont typeface="Libre Franklin"/>
              <a:buChar char="■"/>
              <a:defRPr>
                <a:solidFill>
                  <a:schemeClr val="dk1"/>
                </a:solidFill>
                <a:latin typeface="Libre Franklin"/>
                <a:ea typeface="Libre Franklin"/>
                <a:cs typeface="Libre Franklin"/>
                <a:sym typeface="Libre Franklin"/>
              </a:defRPr>
            </a:lvl3pPr>
            <a:lvl4pPr marL="1828800" lvl="3" indent="-317500">
              <a:lnSpc>
                <a:spcPct val="115000"/>
              </a:lnSpc>
              <a:spcBef>
                <a:spcPts val="0"/>
              </a:spcBef>
              <a:spcAft>
                <a:spcPts val="0"/>
              </a:spcAft>
              <a:buClr>
                <a:schemeClr val="dk1"/>
              </a:buClr>
              <a:buSzPts val="1400"/>
              <a:buFont typeface="Libre Franklin"/>
              <a:buChar char="●"/>
              <a:defRPr>
                <a:solidFill>
                  <a:schemeClr val="dk1"/>
                </a:solidFill>
                <a:latin typeface="Libre Franklin"/>
                <a:ea typeface="Libre Franklin"/>
                <a:cs typeface="Libre Franklin"/>
                <a:sym typeface="Libre Franklin"/>
              </a:defRPr>
            </a:lvl4pPr>
            <a:lvl5pPr marL="2286000" lvl="4" indent="-317500">
              <a:lnSpc>
                <a:spcPct val="115000"/>
              </a:lnSpc>
              <a:spcBef>
                <a:spcPts val="0"/>
              </a:spcBef>
              <a:spcAft>
                <a:spcPts val="0"/>
              </a:spcAft>
              <a:buClr>
                <a:schemeClr val="dk1"/>
              </a:buClr>
              <a:buSzPts val="1400"/>
              <a:buFont typeface="Libre Franklin"/>
              <a:buChar char="○"/>
              <a:defRPr>
                <a:solidFill>
                  <a:schemeClr val="dk1"/>
                </a:solidFill>
                <a:latin typeface="Libre Franklin"/>
                <a:ea typeface="Libre Franklin"/>
                <a:cs typeface="Libre Franklin"/>
                <a:sym typeface="Libre Franklin"/>
              </a:defRPr>
            </a:lvl5pPr>
            <a:lvl6pPr marL="2743200" lvl="5" indent="-317500">
              <a:lnSpc>
                <a:spcPct val="115000"/>
              </a:lnSpc>
              <a:spcBef>
                <a:spcPts val="0"/>
              </a:spcBef>
              <a:spcAft>
                <a:spcPts val="0"/>
              </a:spcAft>
              <a:buClr>
                <a:schemeClr val="dk1"/>
              </a:buClr>
              <a:buSzPts val="1400"/>
              <a:buFont typeface="Libre Franklin"/>
              <a:buChar char="■"/>
              <a:defRPr>
                <a:solidFill>
                  <a:schemeClr val="dk1"/>
                </a:solidFill>
                <a:latin typeface="Libre Franklin"/>
                <a:ea typeface="Libre Franklin"/>
                <a:cs typeface="Libre Franklin"/>
                <a:sym typeface="Libre Franklin"/>
              </a:defRPr>
            </a:lvl6pPr>
            <a:lvl7pPr marL="3200400" lvl="6" indent="-317500">
              <a:lnSpc>
                <a:spcPct val="115000"/>
              </a:lnSpc>
              <a:spcBef>
                <a:spcPts val="0"/>
              </a:spcBef>
              <a:spcAft>
                <a:spcPts val="0"/>
              </a:spcAft>
              <a:buClr>
                <a:schemeClr val="dk1"/>
              </a:buClr>
              <a:buSzPts val="1400"/>
              <a:buFont typeface="Libre Franklin"/>
              <a:buChar char="●"/>
              <a:defRPr>
                <a:solidFill>
                  <a:schemeClr val="dk1"/>
                </a:solidFill>
                <a:latin typeface="Libre Franklin"/>
                <a:ea typeface="Libre Franklin"/>
                <a:cs typeface="Libre Franklin"/>
                <a:sym typeface="Libre Franklin"/>
              </a:defRPr>
            </a:lvl7pPr>
            <a:lvl8pPr marL="3657600" lvl="7" indent="-317500">
              <a:lnSpc>
                <a:spcPct val="115000"/>
              </a:lnSpc>
              <a:spcBef>
                <a:spcPts val="0"/>
              </a:spcBef>
              <a:spcAft>
                <a:spcPts val="0"/>
              </a:spcAft>
              <a:buClr>
                <a:schemeClr val="dk1"/>
              </a:buClr>
              <a:buSzPts val="1400"/>
              <a:buFont typeface="Libre Franklin"/>
              <a:buChar char="○"/>
              <a:defRPr>
                <a:solidFill>
                  <a:schemeClr val="dk1"/>
                </a:solidFill>
                <a:latin typeface="Libre Franklin"/>
                <a:ea typeface="Libre Franklin"/>
                <a:cs typeface="Libre Franklin"/>
                <a:sym typeface="Libre Franklin"/>
              </a:defRPr>
            </a:lvl8pPr>
            <a:lvl9pPr marL="4114800" lvl="8" indent="-317500">
              <a:lnSpc>
                <a:spcPct val="115000"/>
              </a:lnSpc>
              <a:spcBef>
                <a:spcPts val="0"/>
              </a:spcBef>
              <a:spcAft>
                <a:spcPts val="0"/>
              </a:spcAft>
              <a:buClr>
                <a:schemeClr val="dk1"/>
              </a:buClr>
              <a:buSzPts val="1400"/>
              <a:buFont typeface="Libre Franklin"/>
              <a:buChar char="■"/>
              <a:defRPr>
                <a:solidFill>
                  <a:schemeClr val="dk1"/>
                </a:solidFill>
                <a:latin typeface="Libre Franklin"/>
                <a:ea typeface="Libre Franklin"/>
                <a:cs typeface="Libre Franklin"/>
                <a:sym typeface="Libre Frankli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8" r:id="rId6"/>
    <p:sldLayoutId id="2147483662" r:id="rId7"/>
    <p:sldLayoutId id="2147483665" r:id="rId8"/>
    <p:sldLayoutId id="214748366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s://flow.microsoft.com/"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grpSp>
        <p:nvGrpSpPr>
          <p:cNvPr id="149" name="Google Shape;149;p24"/>
          <p:cNvGrpSpPr/>
          <p:nvPr/>
        </p:nvGrpSpPr>
        <p:grpSpPr>
          <a:xfrm>
            <a:off x="0" y="767750"/>
            <a:ext cx="9144125" cy="2962500"/>
            <a:chOff x="0" y="767750"/>
            <a:chExt cx="9144125" cy="2962500"/>
          </a:xfrm>
        </p:grpSpPr>
        <p:sp>
          <p:nvSpPr>
            <p:cNvPr id="150" name="Google Shape;150;p24"/>
            <p:cNvSpPr/>
            <p:nvPr/>
          </p:nvSpPr>
          <p:spPr>
            <a:xfrm>
              <a:off x="713225" y="767750"/>
              <a:ext cx="7717500" cy="296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 name="Google Shape;151;p24"/>
            <p:cNvSpPr/>
            <p:nvPr/>
          </p:nvSpPr>
          <p:spPr>
            <a:xfrm>
              <a:off x="8430725" y="767750"/>
              <a:ext cx="713400" cy="2962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 name="Google Shape;152;p24"/>
            <p:cNvSpPr/>
            <p:nvPr/>
          </p:nvSpPr>
          <p:spPr>
            <a:xfrm>
              <a:off x="0" y="767750"/>
              <a:ext cx="713400" cy="2962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53" name="Google Shape;153;p24"/>
          <p:cNvSpPr txBox="1">
            <a:spLocks noGrp="1"/>
          </p:cNvSpPr>
          <p:nvPr>
            <p:ph type="ctrTitle"/>
          </p:nvPr>
        </p:nvSpPr>
        <p:spPr>
          <a:xfrm>
            <a:off x="1426625" y="1241900"/>
            <a:ext cx="7004099" cy="201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t>Group c</a:t>
            </a:r>
            <a:br>
              <a:rPr lang="en-GB"/>
            </a:br>
            <a:r>
              <a:rPr lang="en-GB"/>
              <a:t>Electricity Utility Power Bi Mini Project</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grpSp>
        <p:nvGrpSpPr>
          <p:cNvPr id="197" name="Google Shape;197;p28"/>
          <p:cNvGrpSpPr/>
          <p:nvPr/>
        </p:nvGrpSpPr>
        <p:grpSpPr>
          <a:xfrm>
            <a:off x="582597" y="535987"/>
            <a:ext cx="7717500" cy="4071525"/>
            <a:chOff x="713225" y="532075"/>
            <a:chExt cx="7717500" cy="4071525"/>
          </a:xfrm>
        </p:grpSpPr>
        <p:sp>
          <p:nvSpPr>
            <p:cNvPr id="198" name="Google Shape;198;p28"/>
            <p:cNvSpPr/>
            <p:nvPr/>
          </p:nvSpPr>
          <p:spPr>
            <a:xfrm>
              <a:off x="713225" y="653550"/>
              <a:ext cx="7717500" cy="3836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9" name="Google Shape;199;p28"/>
            <p:cNvSpPr/>
            <p:nvPr/>
          </p:nvSpPr>
          <p:spPr>
            <a:xfrm rot="5400000">
              <a:off x="4469550" y="-2937875"/>
              <a:ext cx="204900" cy="7144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0" name="Google Shape;200;p28"/>
            <p:cNvSpPr/>
            <p:nvPr/>
          </p:nvSpPr>
          <p:spPr>
            <a:xfrm rot="5400000">
              <a:off x="4471950" y="931150"/>
              <a:ext cx="200100" cy="7144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2" name="Title 1">
            <a:extLst>
              <a:ext uri="{FF2B5EF4-FFF2-40B4-BE49-F238E27FC236}">
                <a16:creationId xmlns:a16="http://schemas.microsoft.com/office/drawing/2014/main" id="{307996BB-AE66-4774-9BC4-AEA34BF94F40}"/>
              </a:ext>
            </a:extLst>
          </p:cNvPr>
          <p:cNvSpPr>
            <a:spLocks noGrp="1"/>
          </p:cNvSpPr>
          <p:nvPr>
            <p:ph type="ctrTitle"/>
          </p:nvPr>
        </p:nvSpPr>
        <p:spPr>
          <a:xfrm>
            <a:off x="1152750" y="1241900"/>
            <a:ext cx="6695850" cy="2339500"/>
          </a:xfrm>
        </p:spPr>
        <p:txBody>
          <a:bodyPr/>
          <a:lstStyle/>
          <a:p>
            <a:pPr algn="just">
              <a:lnSpc>
                <a:spcPct val="150000"/>
              </a:lnSpc>
            </a:pPr>
            <a:r>
              <a:rPr lang="en-GB" sz="1200" b="1"/>
              <a:t>Power BI</a:t>
            </a:r>
            <a:r>
              <a:rPr lang="en-GB" sz="1200"/>
              <a:t> is a business intelligence (BI) tool developed by Microsoft that helps one </a:t>
            </a:r>
            <a:r>
              <a:rPr lang="en-GB" sz="1200" b="1"/>
              <a:t>connect, visualize, and share data</a:t>
            </a:r>
            <a:r>
              <a:rPr lang="en-GB" sz="1200"/>
              <a:t> in an interactive and dynamic way.</a:t>
            </a:r>
            <a:br>
              <a:rPr lang="en-GB" sz="1200"/>
            </a:br>
            <a:r>
              <a:rPr lang="en-GB" sz="1200"/>
              <a:t>It is a great tool to tell data story by creating dynamic visuals. It can take data from multiple sources including Excel sheets, SQL databases, online platforms, etc.  It makes use of </a:t>
            </a:r>
            <a:r>
              <a:rPr lang="en-GB" sz="1200" b="1"/>
              <a:t>ETL(Extract Transform Load) MODEL </a:t>
            </a:r>
            <a:r>
              <a:rPr lang="en-GB" sz="1200"/>
              <a:t>for analysis while it uses a code know as </a:t>
            </a:r>
            <a:r>
              <a:rPr lang="en-GB" sz="1200" b="1"/>
              <a:t>M Language </a:t>
            </a:r>
            <a:r>
              <a:rPr lang="en-GB" sz="1200"/>
              <a:t>which makes it preform complex problems </a:t>
            </a:r>
            <a:r>
              <a:rPr lang="en-GB" sz="1200" b="1"/>
              <a:t>with DAX and Power Query</a:t>
            </a:r>
            <a:endParaRPr lang="en-NG" sz="1200" b="1"/>
          </a:p>
        </p:txBody>
      </p:sp>
      <p:sp>
        <p:nvSpPr>
          <p:cNvPr id="203" name="Google Shape;203;p28"/>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Power Bi Definition and characteristics</a:t>
            </a:r>
            <a:endParaRPr/>
          </a:p>
        </p:txBody>
      </p:sp>
      <p:cxnSp>
        <p:nvCxnSpPr>
          <p:cNvPr id="204" name="Google Shape;204;p28"/>
          <p:cNvCxnSpPr/>
          <p:nvPr/>
        </p:nvCxnSpPr>
        <p:spPr>
          <a:xfrm rot="10800000">
            <a:off x="1676400" y="3238625"/>
            <a:ext cx="57912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6" name="Title 5">
            <a:extLst>
              <a:ext uri="{FF2B5EF4-FFF2-40B4-BE49-F238E27FC236}">
                <a16:creationId xmlns:a16="http://schemas.microsoft.com/office/drawing/2014/main" id="{7C9C2C0D-7EF6-47CB-976D-998C8B4C1C10}"/>
              </a:ext>
            </a:extLst>
          </p:cNvPr>
          <p:cNvSpPr>
            <a:spLocks noGrp="1"/>
          </p:cNvSpPr>
          <p:nvPr>
            <p:ph type="title"/>
          </p:nvPr>
        </p:nvSpPr>
        <p:spPr>
          <a:xfrm>
            <a:off x="600256" y="564768"/>
            <a:ext cx="7704000" cy="572700"/>
          </a:xfrm>
        </p:spPr>
        <p:txBody>
          <a:bodyPr/>
          <a:lstStyle/>
          <a:p>
            <a:r>
              <a:rPr lang="en-GB"/>
              <a:t>POWER BI VS EXCEL</a:t>
            </a:r>
            <a:endParaRPr lang="en-NG"/>
          </a:p>
        </p:txBody>
      </p:sp>
      <p:graphicFrame>
        <p:nvGraphicFramePr>
          <p:cNvPr id="2" name="Table 1">
            <a:extLst>
              <a:ext uri="{FF2B5EF4-FFF2-40B4-BE49-F238E27FC236}">
                <a16:creationId xmlns:a16="http://schemas.microsoft.com/office/drawing/2014/main" id="{58FA048F-E5DB-4812-92EB-611E346C7A40}"/>
              </a:ext>
            </a:extLst>
          </p:cNvPr>
          <p:cNvGraphicFramePr>
            <a:graphicFrameLocks noGrp="1"/>
          </p:cNvGraphicFramePr>
          <p:nvPr>
            <p:extLst>
              <p:ext uri="{D42A27DB-BD31-4B8C-83A1-F6EECF244321}">
                <p14:modId xmlns:p14="http://schemas.microsoft.com/office/powerpoint/2010/main" val="4070956957"/>
              </p:ext>
            </p:extLst>
          </p:nvPr>
        </p:nvGraphicFramePr>
        <p:xfrm>
          <a:off x="762000" y="1189264"/>
          <a:ext cx="7249884" cy="3597240"/>
        </p:xfrm>
        <a:graphic>
          <a:graphicData uri="http://schemas.openxmlformats.org/drawingml/2006/table">
            <a:tbl>
              <a:tblPr/>
              <a:tblGrid>
                <a:gridCol w="2416628">
                  <a:extLst>
                    <a:ext uri="{9D8B030D-6E8A-4147-A177-3AD203B41FA5}">
                      <a16:colId xmlns:a16="http://schemas.microsoft.com/office/drawing/2014/main" val="473180137"/>
                    </a:ext>
                  </a:extLst>
                </a:gridCol>
                <a:gridCol w="2416628">
                  <a:extLst>
                    <a:ext uri="{9D8B030D-6E8A-4147-A177-3AD203B41FA5}">
                      <a16:colId xmlns:a16="http://schemas.microsoft.com/office/drawing/2014/main" val="2262920983"/>
                    </a:ext>
                  </a:extLst>
                </a:gridCol>
                <a:gridCol w="2416628">
                  <a:extLst>
                    <a:ext uri="{9D8B030D-6E8A-4147-A177-3AD203B41FA5}">
                      <a16:colId xmlns:a16="http://schemas.microsoft.com/office/drawing/2014/main" val="2039404048"/>
                    </a:ext>
                  </a:extLst>
                </a:gridCol>
              </a:tblGrid>
              <a:tr h="196339">
                <a:tc>
                  <a:txBody>
                    <a:bodyPr/>
                    <a:lstStyle/>
                    <a:p>
                      <a:r>
                        <a:rPr lang="en-GB" sz="1200" b="1"/>
                        <a:t>Feature</a:t>
                      </a:r>
                    </a:p>
                  </a:txBody>
                  <a:tcPr marL="58902" marR="58902" marT="29451" marB="29451" anchor="ctr">
                    <a:lnL>
                      <a:noFill/>
                    </a:lnL>
                    <a:lnR>
                      <a:noFill/>
                    </a:lnR>
                    <a:lnT>
                      <a:noFill/>
                    </a:lnT>
                    <a:lnB>
                      <a:noFill/>
                    </a:lnB>
                  </a:tcPr>
                </a:tc>
                <a:tc>
                  <a:txBody>
                    <a:bodyPr/>
                    <a:lstStyle/>
                    <a:p>
                      <a:r>
                        <a:rPr lang="en-GB" sz="1200" b="1"/>
                        <a:t>Excel</a:t>
                      </a:r>
                    </a:p>
                  </a:txBody>
                  <a:tcPr marL="58902" marR="58902" marT="29451" marB="29451" anchor="ctr">
                    <a:lnL>
                      <a:noFill/>
                    </a:lnL>
                    <a:lnR>
                      <a:noFill/>
                    </a:lnR>
                    <a:lnT>
                      <a:noFill/>
                    </a:lnT>
                    <a:lnB>
                      <a:noFill/>
                    </a:lnB>
                  </a:tcPr>
                </a:tc>
                <a:tc>
                  <a:txBody>
                    <a:bodyPr/>
                    <a:lstStyle/>
                    <a:p>
                      <a:r>
                        <a:rPr lang="en-GB" sz="1200" b="1"/>
                        <a:t>Power BI</a:t>
                      </a:r>
                    </a:p>
                  </a:txBody>
                  <a:tcPr marL="58902" marR="58902" marT="29451" marB="29451" anchor="ctr">
                    <a:lnL>
                      <a:noFill/>
                    </a:lnL>
                    <a:lnR>
                      <a:noFill/>
                    </a:lnR>
                    <a:lnT>
                      <a:noFill/>
                    </a:lnT>
                    <a:lnB>
                      <a:noFill/>
                    </a:lnB>
                  </a:tcPr>
                </a:tc>
                <a:extLst>
                  <a:ext uri="{0D108BD9-81ED-4DB2-BD59-A6C34878D82A}">
                    <a16:rowId xmlns:a16="http://schemas.microsoft.com/office/drawing/2014/main" val="2343811400"/>
                  </a:ext>
                </a:extLst>
              </a:tr>
              <a:tr h="471214">
                <a:tc>
                  <a:txBody>
                    <a:bodyPr/>
                    <a:lstStyle/>
                    <a:p>
                      <a:r>
                        <a:rPr lang="en-GB" sz="1050" b="1"/>
                        <a:t>Purpose</a:t>
                      </a:r>
                      <a:endParaRPr lang="en-GB" sz="1050"/>
                    </a:p>
                  </a:txBody>
                  <a:tcPr marL="58902" marR="58902" marT="29451" marB="29451" anchor="ctr">
                    <a:lnL>
                      <a:noFill/>
                    </a:lnL>
                    <a:lnR>
                      <a:noFill/>
                    </a:lnR>
                    <a:lnT>
                      <a:noFill/>
                    </a:lnT>
                    <a:lnB>
                      <a:noFill/>
                    </a:lnB>
                  </a:tcPr>
                </a:tc>
                <a:tc>
                  <a:txBody>
                    <a:bodyPr/>
                    <a:lstStyle/>
                    <a:p>
                      <a:r>
                        <a:rPr lang="en-GB" sz="1050"/>
                        <a:t>A Spreadsheet tool for calculations &amp; analysis</a:t>
                      </a:r>
                    </a:p>
                  </a:txBody>
                  <a:tcPr marL="58902" marR="58902" marT="29451" marB="29451" anchor="ctr">
                    <a:lnL>
                      <a:noFill/>
                    </a:lnL>
                    <a:lnR>
                      <a:noFill/>
                    </a:lnR>
                    <a:lnT>
                      <a:noFill/>
                    </a:lnT>
                    <a:lnB>
                      <a:noFill/>
                    </a:lnB>
                  </a:tcPr>
                </a:tc>
                <a:tc>
                  <a:txBody>
                    <a:bodyPr/>
                    <a:lstStyle/>
                    <a:p>
                      <a:r>
                        <a:rPr lang="en-GB" sz="1050"/>
                        <a:t>BI tool  is for reporting, dashboards, and real-time visualization(Storytelling)</a:t>
                      </a:r>
                    </a:p>
                  </a:txBody>
                  <a:tcPr marL="58902" marR="58902" marT="29451" marB="29451" anchor="ctr">
                    <a:lnL>
                      <a:noFill/>
                    </a:lnL>
                    <a:lnR>
                      <a:noFill/>
                    </a:lnR>
                    <a:lnT>
                      <a:noFill/>
                    </a:lnT>
                    <a:lnB>
                      <a:noFill/>
                    </a:lnB>
                  </a:tcPr>
                </a:tc>
                <a:extLst>
                  <a:ext uri="{0D108BD9-81ED-4DB2-BD59-A6C34878D82A}">
                    <a16:rowId xmlns:a16="http://schemas.microsoft.com/office/drawing/2014/main" val="696219889"/>
                  </a:ext>
                </a:extLst>
              </a:tr>
              <a:tr h="471214">
                <a:tc>
                  <a:txBody>
                    <a:bodyPr/>
                    <a:lstStyle/>
                    <a:p>
                      <a:r>
                        <a:rPr lang="en-GB" sz="1050" b="1"/>
                        <a:t>Data Size</a:t>
                      </a:r>
                      <a:endParaRPr lang="en-GB" sz="1050"/>
                    </a:p>
                  </a:txBody>
                  <a:tcPr marL="58902" marR="58902" marT="29451" marB="29451" anchor="ctr">
                    <a:lnL>
                      <a:noFill/>
                    </a:lnL>
                    <a:lnR>
                      <a:noFill/>
                    </a:lnR>
                    <a:lnT>
                      <a:noFill/>
                    </a:lnT>
                    <a:lnB>
                      <a:noFill/>
                    </a:lnB>
                  </a:tcPr>
                </a:tc>
                <a:tc>
                  <a:txBody>
                    <a:bodyPr/>
                    <a:lstStyle/>
                    <a:p>
                      <a:r>
                        <a:rPr lang="en-GB" sz="1050"/>
                        <a:t>Handles smaller data (up to ~1 million rows comfortably)</a:t>
                      </a:r>
                    </a:p>
                  </a:txBody>
                  <a:tcPr marL="58902" marR="58902" marT="29451" marB="29451" anchor="ctr">
                    <a:lnL>
                      <a:noFill/>
                    </a:lnL>
                    <a:lnR>
                      <a:noFill/>
                    </a:lnR>
                    <a:lnT>
                      <a:noFill/>
                    </a:lnT>
                    <a:lnB>
                      <a:noFill/>
                    </a:lnB>
                  </a:tcPr>
                </a:tc>
                <a:tc>
                  <a:txBody>
                    <a:bodyPr/>
                    <a:lstStyle/>
                    <a:p>
                      <a:r>
                        <a:rPr lang="en-GB" sz="1050"/>
                        <a:t>Handles </a:t>
                      </a:r>
                      <a:r>
                        <a:rPr lang="en-GB" sz="1050" b="1"/>
                        <a:t>millions to billions</a:t>
                      </a:r>
                      <a:r>
                        <a:rPr lang="en-GB" sz="1050"/>
                        <a:t> of rows efficiently using data compression</a:t>
                      </a:r>
                    </a:p>
                  </a:txBody>
                  <a:tcPr marL="58902" marR="58902" marT="29451" marB="29451" anchor="ctr">
                    <a:lnL>
                      <a:noFill/>
                    </a:lnL>
                    <a:lnR>
                      <a:noFill/>
                    </a:lnR>
                    <a:lnT>
                      <a:noFill/>
                    </a:lnT>
                    <a:lnB>
                      <a:noFill/>
                    </a:lnB>
                  </a:tcPr>
                </a:tc>
                <a:extLst>
                  <a:ext uri="{0D108BD9-81ED-4DB2-BD59-A6C34878D82A}">
                    <a16:rowId xmlns:a16="http://schemas.microsoft.com/office/drawing/2014/main" val="703576360"/>
                  </a:ext>
                </a:extLst>
              </a:tr>
              <a:tr h="333776">
                <a:tc>
                  <a:txBody>
                    <a:bodyPr/>
                    <a:lstStyle/>
                    <a:p>
                      <a:r>
                        <a:rPr lang="en-GB" sz="1050" b="1"/>
                        <a:t>Visualization</a:t>
                      </a:r>
                      <a:endParaRPr lang="en-GB" sz="1050"/>
                    </a:p>
                  </a:txBody>
                  <a:tcPr marL="58902" marR="58902" marT="29451" marB="29451" anchor="ctr">
                    <a:lnL>
                      <a:noFill/>
                    </a:lnL>
                    <a:lnR>
                      <a:noFill/>
                    </a:lnR>
                    <a:lnT>
                      <a:noFill/>
                    </a:lnT>
                    <a:lnB>
                      <a:noFill/>
                    </a:lnB>
                  </a:tcPr>
                </a:tc>
                <a:tc>
                  <a:txBody>
                    <a:bodyPr/>
                    <a:lstStyle/>
                    <a:p>
                      <a:r>
                        <a:rPr lang="en-GB" sz="1050"/>
                        <a:t>Basic charts (static)</a:t>
                      </a:r>
                    </a:p>
                  </a:txBody>
                  <a:tcPr marL="58902" marR="58902" marT="29451" marB="29451" anchor="ctr">
                    <a:lnL>
                      <a:noFill/>
                    </a:lnL>
                    <a:lnR>
                      <a:noFill/>
                    </a:lnR>
                    <a:lnT>
                      <a:noFill/>
                    </a:lnT>
                    <a:lnB>
                      <a:noFill/>
                    </a:lnB>
                  </a:tcPr>
                </a:tc>
                <a:tc>
                  <a:txBody>
                    <a:bodyPr/>
                    <a:lstStyle/>
                    <a:p>
                      <a:r>
                        <a:rPr lang="en-GB" sz="1050"/>
                        <a:t>Interactive visuals, dashboards, drill-down, filters, tooltips etc</a:t>
                      </a:r>
                    </a:p>
                  </a:txBody>
                  <a:tcPr marL="58902" marR="58902" marT="29451" marB="29451" anchor="ctr">
                    <a:lnL>
                      <a:noFill/>
                    </a:lnL>
                    <a:lnR>
                      <a:noFill/>
                    </a:lnR>
                    <a:lnT>
                      <a:noFill/>
                    </a:lnT>
                    <a:lnB>
                      <a:noFill/>
                    </a:lnB>
                  </a:tcPr>
                </a:tc>
                <a:extLst>
                  <a:ext uri="{0D108BD9-81ED-4DB2-BD59-A6C34878D82A}">
                    <a16:rowId xmlns:a16="http://schemas.microsoft.com/office/drawing/2014/main" val="2409269529"/>
                  </a:ext>
                </a:extLst>
              </a:tr>
              <a:tr h="333776">
                <a:tc>
                  <a:txBody>
                    <a:bodyPr/>
                    <a:lstStyle/>
                    <a:p>
                      <a:r>
                        <a:rPr lang="en-GB" sz="1050" b="1"/>
                        <a:t>Automation</a:t>
                      </a:r>
                      <a:endParaRPr lang="en-GB" sz="1050"/>
                    </a:p>
                  </a:txBody>
                  <a:tcPr marL="58902" marR="58902" marT="29451" marB="29451" anchor="ctr">
                    <a:lnL>
                      <a:noFill/>
                    </a:lnL>
                    <a:lnR>
                      <a:noFill/>
                    </a:lnR>
                    <a:lnT>
                      <a:noFill/>
                    </a:lnT>
                    <a:lnB>
                      <a:noFill/>
                    </a:lnB>
                  </a:tcPr>
                </a:tc>
                <a:tc>
                  <a:txBody>
                    <a:bodyPr/>
                    <a:lstStyle/>
                    <a:p>
                      <a:r>
                        <a:rPr lang="en-GB" sz="1050"/>
                        <a:t>Manual updates</a:t>
                      </a:r>
                    </a:p>
                  </a:txBody>
                  <a:tcPr marL="58902" marR="58902" marT="29451" marB="29451" anchor="ctr">
                    <a:lnL>
                      <a:noFill/>
                    </a:lnL>
                    <a:lnR>
                      <a:noFill/>
                    </a:lnR>
                    <a:lnT>
                      <a:noFill/>
                    </a:lnT>
                    <a:lnB>
                      <a:noFill/>
                    </a:lnB>
                  </a:tcPr>
                </a:tc>
                <a:tc>
                  <a:txBody>
                    <a:bodyPr/>
                    <a:lstStyle/>
                    <a:p>
                      <a:r>
                        <a:rPr lang="en-GB" sz="1050" b="1"/>
                        <a:t>Automatic refresh</a:t>
                      </a:r>
                      <a:r>
                        <a:rPr lang="en-GB" sz="1050"/>
                        <a:t> from live data sources</a:t>
                      </a:r>
                    </a:p>
                  </a:txBody>
                  <a:tcPr marL="58902" marR="58902" marT="29451" marB="29451" anchor="ctr">
                    <a:lnL>
                      <a:noFill/>
                    </a:lnL>
                    <a:lnR>
                      <a:noFill/>
                    </a:lnR>
                    <a:lnT>
                      <a:noFill/>
                    </a:lnT>
                    <a:lnB>
                      <a:noFill/>
                    </a:lnB>
                  </a:tcPr>
                </a:tc>
                <a:extLst>
                  <a:ext uri="{0D108BD9-81ED-4DB2-BD59-A6C34878D82A}">
                    <a16:rowId xmlns:a16="http://schemas.microsoft.com/office/drawing/2014/main" val="3938303586"/>
                  </a:ext>
                </a:extLst>
              </a:tr>
              <a:tr h="471214">
                <a:tc>
                  <a:txBody>
                    <a:bodyPr/>
                    <a:lstStyle/>
                    <a:p>
                      <a:r>
                        <a:rPr lang="en-GB" sz="1050" b="1"/>
                        <a:t>Collaboration</a:t>
                      </a:r>
                      <a:endParaRPr lang="en-GB" sz="1050"/>
                    </a:p>
                  </a:txBody>
                  <a:tcPr marL="58902" marR="58902" marT="29451" marB="29451" anchor="ctr">
                    <a:lnL>
                      <a:noFill/>
                    </a:lnL>
                    <a:lnR>
                      <a:noFill/>
                    </a:lnR>
                    <a:lnT>
                      <a:noFill/>
                    </a:lnT>
                    <a:lnB>
                      <a:noFill/>
                    </a:lnB>
                  </a:tcPr>
                </a:tc>
                <a:tc>
                  <a:txBody>
                    <a:bodyPr/>
                    <a:lstStyle/>
                    <a:p>
                      <a:r>
                        <a:rPr lang="en-GB" sz="1050"/>
                        <a:t>File-based sharing (email, OneDrive)</a:t>
                      </a:r>
                    </a:p>
                  </a:txBody>
                  <a:tcPr marL="58902" marR="58902" marT="29451" marB="29451" anchor="ctr">
                    <a:lnL>
                      <a:noFill/>
                    </a:lnL>
                    <a:lnR>
                      <a:noFill/>
                    </a:lnR>
                    <a:lnT>
                      <a:noFill/>
                    </a:lnT>
                    <a:lnB>
                      <a:noFill/>
                    </a:lnB>
                  </a:tcPr>
                </a:tc>
                <a:tc>
                  <a:txBody>
                    <a:bodyPr/>
                    <a:lstStyle/>
                    <a:p>
                      <a:r>
                        <a:rPr lang="en-GB" sz="1050"/>
                        <a:t>Cloud-based dashboards, shared workspaces, role-level security</a:t>
                      </a:r>
                    </a:p>
                  </a:txBody>
                  <a:tcPr marL="58902" marR="58902" marT="29451" marB="29451" anchor="ctr">
                    <a:lnL>
                      <a:noFill/>
                    </a:lnL>
                    <a:lnR>
                      <a:noFill/>
                    </a:lnR>
                    <a:lnT>
                      <a:noFill/>
                    </a:lnT>
                    <a:lnB>
                      <a:noFill/>
                    </a:lnB>
                  </a:tcPr>
                </a:tc>
                <a:extLst>
                  <a:ext uri="{0D108BD9-81ED-4DB2-BD59-A6C34878D82A}">
                    <a16:rowId xmlns:a16="http://schemas.microsoft.com/office/drawing/2014/main" val="535257760"/>
                  </a:ext>
                </a:extLst>
              </a:tr>
              <a:tr h="471214">
                <a:tc>
                  <a:txBody>
                    <a:bodyPr/>
                    <a:lstStyle/>
                    <a:p>
                      <a:r>
                        <a:rPr lang="en-GB" sz="1050" b="1"/>
                        <a:t>Integration</a:t>
                      </a:r>
                      <a:endParaRPr lang="en-GB" sz="1050"/>
                    </a:p>
                  </a:txBody>
                  <a:tcPr marL="58902" marR="58902" marT="29451" marB="29451" anchor="ctr">
                    <a:lnL>
                      <a:noFill/>
                    </a:lnL>
                    <a:lnR>
                      <a:noFill/>
                    </a:lnR>
                    <a:lnT>
                      <a:noFill/>
                    </a:lnT>
                    <a:lnB>
                      <a:noFill/>
                    </a:lnB>
                  </a:tcPr>
                </a:tc>
                <a:tc>
                  <a:txBody>
                    <a:bodyPr/>
                    <a:lstStyle/>
                    <a:p>
                      <a:r>
                        <a:rPr lang="en-GB" sz="1050"/>
                        <a:t>Limited external connectors</a:t>
                      </a:r>
                    </a:p>
                  </a:txBody>
                  <a:tcPr marL="58902" marR="58902" marT="29451" marB="29451" anchor="ctr">
                    <a:lnL>
                      <a:noFill/>
                    </a:lnL>
                    <a:lnR>
                      <a:noFill/>
                    </a:lnR>
                    <a:lnT>
                      <a:noFill/>
                    </a:lnT>
                    <a:lnB>
                      <a:noFill/>
                    </a:lnB>
                  </a:tcPr>
                </a:tc>
                <a:tc>
                  <a:txBody>
                    <a:bodyPr/>
                    <a:lstStyle/>
                    <a:p>
                      <a:r>
                        <a:rPr lang="en-GB" sz="1050"/>
                        <a:t>Connects to 100+ data sources (SQL, APIs, Google Analytics, etc.)</a:t>
                      </a:r>
                    </a:p>
                  </a:txBody>
                  <a:tcPr marL="58902" marR="58902" marT="29451" marB="29451" anchor="ctr">
                    <a:lnL>
                      <a:noFill/>
                    </a:lnL>
                    <a:lnR>
                      <a:noFill/>
                    </a:lnR>
                    <a:lnT>
                      <a:noFill/>
                    </a:lnT>
                    <a:lnB>
                      <a:noFill/>
                    </a:lnB>
                  </a:tcPr>
                </a:tc>
                <a:extLst>
                  <a:ext uri="{0D108BD9-81ED-4DB2-BD59-A6C34878D82A}">
                    <a16:rowId xmlns:a16="http://schemas.microsoft.com/office/drawing/2014/main" val="3566923614"/>
                  </a:ext>
                </a:extLst>
              </a:tr>
              <a:tr h="333776">
                <a:tc>
                  <a:txBody>
                    <a:bodyPr/>
                    <a:lstStyle/>
                    <a:p>
                      <a:r>
                        <a:rPr lang="en-GB" sz="1050" b="1"/>
                        <a:t>Speed</a:t>
                      </a:r>
                      <a:endParaRPr lang="en-GB" sz="1050"/>
                    </a:p>
                  </a:txBody>
                  <a:tcPr marL="58902" marR="58902" marT="29451" marB="29451" anchor="ctr">
                    <a:lnL>
                      <a:noFill/>
                    </a:lnL>
                    <a:lnR>
                      <a:noFill/>
                    </a:lnR>
                    <a:lnT>
                      <a:noFill/>
                    </a:lnT>
                    <a:lnB>
                      <a:noFill/>
                    </a:lnB>
                  </a:tcPr>
                </a:tc>
                <a:tc>
                  <a:txBody>
                    <a:bodyPr/>
                    <a:lstStyle/>
                    <a:p>
                      <a:r>
                        <a:rPr lang="en-GB" sz="1050"/>
                        <a:t>Slower for large datasets</a:t>
                      </a:r>
                    </a:p>
                  </a:txBody>
                  <a:tcPr marL="58902" marR="58902" marT="29451" marB="29451" anchor="ctr">
                    <a:lnL>
                      <a:noFill/>
                    </a:lnL>
                    <a:lnR>
                      <a:noFill/>
                    </a:lnR>
                    <a:lnT>
                      <a:noFill/>
                    </a:lnT>
                    <a:lnB>
                      <a:noFill/>
                    </a:lnB>
                  </a:tcPr>
                </a:tc>
                <a:tc>
                  <a:txBody>
                    <a:bodyPr/>
                    <a:lstStyle/>
                    <a:p>
                      <a:r>
                        <a:rPr lang="en-GB" sz="1050"/>
                        <a:t>Optimized engine (VertiPaq) — super fast calculations</a:t>
                      </a:r>
                    </a:p>
                  </a:txBody>
                  <a:tcPr marL="58902" marR="58902" marT="29451" marB="29451" anchor="ctr">
                    <a:lnL>
                      <a:noFill/>
                    </a:lnL>
                    <a:lnR>
                      <a:noFill/>
                    </a:lnR>
                    <a:lnT>
                      <a:noFill/>
                    </a:lnT>
                    <a:lnB>
                      <a:noFill/>
                    </a:lnB>
                  </a:tcPr>
                </a:tc>
                <a:extLst>
                  <a:ext uri="{0D108BD9-81ED-4DB2-BD59-A6C34878D82A}">
                    <a16:rowId xmlns:a16="http://schemas.microsoft.com/office/drawing/2014/main" val="2521378357"/>
                  </a:ext>
                </a:extLst>
              </a:tr>
              <a:tr h="333776">
                <a:tc>
                  <a:txBody>
                    <a:bodyPr/>
                    <a:lstStyle/>
                    <a:p>
                      <a:r>
                        <a:rPr lang="en-GB" sz="1050" b="1"/>
                        <a:t>Interface</a:t>
                      </a:r>
                      <a:endParaRPr lang="en-GB" sz="1050"/>
                    </a:p>
                  </a:txBody>
                  <a:tcPr marL="58902" marR="58902" marT="29451" marB="29451" anchor="ctr">
                    <a:lnL>
                      <a:noFill/>
                    </a:lnL>
                    <a:lnR>
                      <a:noFill/>
                    </a:lnR>
                    <a:lnT>
                      <a:noFill/>
                    </a:lnT>
                    <a:lnB>
                      <a:noFill/>
                    </a:lnB>
                  </a:tcPr>
                </a:tc>
                <a:tc>
                  <a:txBody>
                    <a:bodyPr/>
                    <a:lstStyle/>
                    <a:p>
                      <a:r>
                        <a:rPr lang="en-GB" sz="1050"/>
                        <a:t>Cells and formulas</a:t>
                      </a:r>
                    </a:p>
                  </a:txBody>
                  <a:tcPr marL="58902" marR="58902" marT="29451" marB="29451" anchor="ctr">
                    <a:lnL>
                      <a:noFill/>
                    </a:lnL>
                    <a:lnR>
                      <a:noFill/>
                    </a:lnR>
                    <a:lnT>
                      <a:noFill/>
                    </a:lnT>
                    <a:lnB>
                      <a:noFill/>
                    </a:lnB>
                  </a:tcPr>
                </a:tc>
                <a:tc>
                  <a:txBody>
                    <a:bodyPr/>
                    <a:lstStyle/>
                    <a:p>
                      <a:r>
                        <a:rPr lang="en-GB" sz="1050"/>
                        <a:t>Fields, visuals, DAX, and relationships</a:t>
                      </a:r>
                    </a:p>
                  </a:txBody>
                  <a:tcPr marL="58902" marR="58902" marT="29451" marB="29451" anchor="ctr">
                    <a:lnL>
                      <a:noFill/>
                    </a:lnL>
                    <a:lnR>
                      <a:noFill/>
                    </a:lnR>
                    <a:lnT>
                      <a:noFill/>
                    </a:lnT>
                    <a:lnB>
                      <a:noFill/>
                    </a:lnB>
                  </a:tcPr>
                </a:tc>
                <a:extLst>
                  <a:ext uri="{0D108BD9-81ED-4DB2-BD59-A6C34878D82A}">
                    <a16:rowId xmlns:a16="http://schemas.microsoft.com/office/drawing/2014/main" val="1150861574"/>
                  </a:ext>
                </a:extLst>
              </a:tr>
            </a:tbl>
          </a:graphicData>
        </a:graphic>
      </p:graphicFrame>
    </p:spTree>
    <p:extLst>
      <p:ext uri="{BB962C8B-B14F-4D97-AF65-F5344CB8AC3E}">
        <p14:creationId xmlns:p14="http://schemas.microsoft.com/office/powerpoint/2010/main" val="111166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grpSp>
        <p:nvGrpSpPr>
          <p:cNvPr id="209" name="Google Shape;209;p29"/>
          <p:cNvGrpSpPr/>
          <p:nvPr/>
        </p:nvGrpSpPr>
        <p:grpSpPr>
          <a:xfrm>
            <a:off x="5066000" y="824688"/>
            <a:ext cx="4072800" cy="3494100"/>
            <a:chOff x="5066000" y="824688"/>
            <a:chExt cx="4072800" cy="3494100"/>
          </a:xfrm>
        </p:grpSpPr>
        <p:sp>
          <p:nvSpPr>
            <p:cNvPr id="210" name="Google Shape;210;p29"/>
            <p:cNvSpPr/>
            <p:nvPr/>
          </p:nvSpPr>
          <p:spPr>
            <a:xfrm>
              <a:off x="5066000" y="824688"/>
              <a:ext cx="4072800" cy="3494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11" name="Google Shape;211;p29"/>
            <p:cNvCxnSpPr/>
            <p:nvPr/>
          </p:nvCxnSpPr>
          <p:spPr>
            <a:xfrm rot="10800000">
              <a:off x="5066000" y="1159475"/>
              <a:ext cx="0" cy="2547000"/>
            </a:xfrm>
            <a:prstGeom prst="straightConnector1">
              <a:avLst/>
            </a:prstGeom>
            <a:noFill/>
            <a:ln w="9525" cap="flat" cmpd="sng">
              <a:solidFill>
                <a:schemeClr val="lt2"/>
              </a:solidFill>
              <a:prstDash val="solid"/>
              <a:round/>
              <a:headEnd type="none" w="med" len="med"/>
              <a:tailEnd type="none" w="med" len="med"/>
            </a:ln>
          </p:spPr>
        </p:cxnSp>
      </p:grpSp>
      <p:sp>
        <p:nvSpPr>
          <p:cNvPr id="213" name="Google Shape;213;p29"/>
          <p:cNvSpPr/>
          <p:nvPr/>
        </p:nvSpPr>
        <p:spPr>
          <a:xfrm>
            <a:off x="8983795" y="824688"/>
            <a:ext cx="160200" cy="3494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4" name="Google Shape;214;p29"/>
          <p:cNvSpPr txBox="1">
            <a:spLocks noGrp="1"/>
          </p:cNvSpPr>
          <p:nvPr>
            <p:ph type="title"/>
          </p:nvPr>
        </p:nvSpPr>
        <p:spPr>
          <a:xfrm>
            <a:off x="636751" y="47801"/>
            <a:ext cx="4072797" cy="573000"/>
          </a:xfrm>
          <a:prstGeom prst="rect">
            <a:avLst/>
          </a:prstGeom>
        </p:spPr>
        <p:txBody>
          <a:bodyPr spcFirstLastPara="1" wrap="square" lIns="91425" tIns="91425" rIns="91425" bIns="91425" anchor="t" anchorCtr="0">
            <a:noAutofit/>
          </a:bodyPr>
          <a:lstStyle/>
          <a:p>
            <a:r>
              <a:rPr lang="en-US" sz="1400" b="1">
                <a:effectLst/>
                <a:latin typeface="Century Gothic" panose="020B0502020202020204" pitchFamily="34" charset="0"/>
                <a:ea typeface="MS Mincho" panose="020B0400000000000000" pitchFamily="49" charset="-128"/>
                <a:cs typeface="Times New Roman" panose="02020603050405020304" pitchFamily="18" charset="0"/>
              </a:rPr>
              <a:t>2.What are the steps to load a CSV file into Power BI?</a:t>
            </a:r>
            <a:br>
              <a:rPr lang="en-NG" sz="1800">
                <a:effectLst/>
                <a:latin typeface="Cambria" panose="02040503050406030204" pitchFamily="18" charset="0"/>
                <a:ea typeface="MS Mincho" panose="020B0400000000000000" pitchFamily="49" charset="-128"/>
                <a:cs typeface="Times New Roman" panose="02020603050405020304" pitchFamily="18" charset="0"/>
              </a:rPr>
            </a:br>
            <a:endParaRPr sz="1100"/>
          </a:p>
        </p:txBody>
      </p:sp>
      <p:sp>
        <p:nvSpPr>
          <p:cNvPr id="215" name="Google Shape;215;p29"/>
          <p:cNvSpPr txBox="1">
            <a:spLocks noGrp="1"/>
          </p:cNvSpPr>
          <p:nvPr>
            <p:ph type="subTitle" idx="1"/>
          </p:nvPr>
        </p:nvSpPr>
        <p:spPr>
          <a:xfrm>
            <a:off x="720000" y="807675"/>
            <a:ext cx="3906300" cy="7163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050"/>
              <a:t>To load a CSV file into Power BI, you:</a:t>
            </a:r>
            <a:br>
              <a:rPr lang="en-GB" sz="1050"/>
            </a:br>
            <a:r>
              <a:rPr lang="en-GB" sz="1050" b="1"/>
              <a:t>Get Data → Choose CSV → Load or Transform → Visualize!</a:t>
            </a:r>
            <a:endParaRPr sz="1050" b="1"/>
          </a:p>
        </p:txBody>
      </p:sp>
      <p:pic>
        <p:nvPicPr>
          <p:cNvPr id="2052" name="Picture 4" descr="Import Data Into Power BI From CSV">
            <a:extLst>
              <a:ext uri="{FF2B5EF4-FFF2-40B4-BE49-F238E27FC236}">
                <a16:creationId xmlns:a16="http://schemas.microsoft.com/office/drawing/2014/main" id="{F5C91A81-B21F-4FEF-9915-17A0395219AC}"/>
              </a:ext>
            </a:extLst>
          </p:cNvPr>
          <p:cNvPicPr>
            <a:picLocks noGrp="1" noChangeAspect="1" noChangeArrowheads="1"/>
          </p:cNvPicPr>
          <p:nvPr>
            <p:ph type="pic" idx="2"/>
          </p:nvPr>
        </p:nvPicPr>
        <p:blipFill>
          <a:blip r:embed="rId3">
            <a:extLst>
              <a:ext uri="{28A0092B-C50C-407E-A947-70E740481C1C}">
                <a14:useLocalDpi xmlns:a14="http://schemas.microsoft.com/office/drawing/2010/main" val="0"/>
              </a:ext>
            </a:extLst>
          </a:blip>
          <a:srcRect l="25218" r="25218"/>
          <a:stretch>
            <a:fillRect/>
          </a:stretch>
        </p:blipFill>
        <p:spPr bwMode="auto">
          <a:xfrm>
            <a:off x="5073944" y="0"/>
            <a:ext cx="4072797" cy="5143500"/>
          </a:xfrm>
          <a:prstGeom prst="rect">
            <a:avLst/>
          </a:prstGeom>
          <a:noFill/>
          <a:extLst>
            <a:ext uri="{909E8E84-426E-40DD-AFC4-6F175D3DCCD1}">
              <a14:hiddenFill xmlns:a14="http://schemas.microsoft.com/office/drawing/2010/main">
                <a:solidFill>
                  <a:srgbClr val="FFFFFF"/>
                </a:solidFill>
              </a14:hiddenFill>
            </a:ext>
          </a:extLst>
        </p:spPr>
      </p:pic>
      <p:sp>
        <p:nvSpPr>
          <p:cNvPr id="5" name="Arrow: Right 4">
            <a:extLst>
              <a:ext uri="{FF2B5EF4-FFF2-40B4-BE49-F238E27FC236}">
                <a16:creationId xmlns:a16="http://schemas.microsoft.com/office/drawing/2014/main" id="{E50ED439-1547-4D3A-965F-3B97461FC7E8}"/>
              </a:ext>
            </a:extLst>
          </p:cNvPr>
          <p:cNvSpPr/>
          <p:nvPr/>
        </p:nvSpPr>
        <p:spPr>
          <a:xfrm>
            <a:off x="4070058" y="719525"/>
            <a:ext cx="988000" cy="804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TextBox 6">
            <a:extLst>
              <a:ext uri="{FF2B5EF4-FFF2-40B4-BE49-F238E27FC236}">
                <a16:creationId xmlns:a16="http://schemas.microsoft.com/office/drawing/2014/main" id="{8B98AB1D-DC38-4940-8CB5-BFA77FFF421A}"/>
              </a:ext>
            </a:extLst>
          </p:cNvPr>
          <p:cNvSpPr txBox="1"/>
          <p:nvPr/>
        </p:nvSpPr>
        <p:spPr>
          <a:xfrm>
            <a:off x="450198" y="2713365"/>
            <a:ext cx="4600773" cy="1538883"/>
          </a:xfrm>
          <a:prstGeom prst="rect">
            <a:avLst/>
          </a:prstGeom>
          <a:noFill/>
        </p:spPr>
        <p:txBody>
          <a:bodyPr wrap="square" rtlCol="0">
            <a:spAutoFit/>
          </a:bodyPr>
          <a:lstStyle/>
          <a:p>
            <a:r>
              <a:rPr lang="en-GB"/>
              <a:t>a. </a:t>
            </a:r>
            <a:r>
              <a:rPr lang="en-GB" sz="1100"/>
              <a:t>Total Number of rows </a:t>
            </a:r>
            <a:r>
              <a:rPr lang="en-GB" sz="1100" b="1"/>
              <a:t>is 136,000 and 8 Columns</a:t>
            </a:r>
            <a:br>
              <a:rPr lang="en-GB" sz="1100" b="1"/>
            </a:br>
            <a:r>
              <a:rPr lang="en-GB" sz="1100" b="1"/>
              <a:t>b. </a:t>
            </a:r>
            <a:r>
              <a:rPr lang="en-GB" sz="1100"/>
              <a:t>Converted Columns</a:t>
            </a:r>
            <a:br>
              <a:rPr lang="en-GB" sz="1100"/>
            </a:br>
            <a:br>
              <a:rPr lang="en-GB" sz="1100"/>
            </a:br>
            <a:r>
              <a:rPr lang="en-GB" sz="1100"/>
              <a:t> </a:t>
            </a:r>
            <a:br>
              <a:rPr lang="en-GB" sz="1100"/>
            </a:br>
            <a:r>
              <a:rPr lang="en-GB" sz="1100"/>
              <a:t>Reading Date</a:t>
            </a:r>
            <a:br>
              <a:rPr lang="en-GB" sz="1100"/>
            </a:br>
            <a:r>
              <a:rPr lang="en-GB" sz="1100"/>
              <a:t>Consumption(to decimal </a:t>
            </a:r>
            <a:r>
              <a:rPr lang="en-GB" sz="1100" err="1"/>
              <a:t>i.e</a:t>
            </a:r>
            <a:r>
              <a:rPr lang="en-GB" sz="1100"/>
              <a:t> 2dp)</a:t>
            </a:r>
            <a:br>
              <a:rPr lang="en-GB" sz="1100"/>
            </a:br>
            <a:r>
              <a:rPr lang="en-GB" sz="1100"/>
              <a:t>Date to Month</a:t>
            </a:r>
            <a:br>
              <a:rPr lang="en-GB" sz="1100"/>
            </a:br>
            <a:endParaRPr lang="en-NG" b="1"/>
          </a:p>
        </p:txBody>
      </p:sp>
      <p:sp>
        <p:nvSpPr>
          <p:cNvPr id="9" name="TextBox 8">
            <a:extLst>
              <a:ext uri="{FF2B5EF4-FFF2-40B4-BE49-F238E27FC236}">
                <a16:creationId xmlns:a16="http://schemas.microsoft.com/office/drawing/2014/main" id="{C054407C-802D-4B81-BFFE-7F1F5AA7F4B2}"/>
              </a:ext>
            </a:extLst>
          </p:cNvPr>
          <p:cNvSpPr txBox="1"/>
          <p:nvPr/>
        </p:nvSpPr>
        <p:spPr>
          <a:xfrm>
            <a:off x="636751" y="1665514"/>
            <a:ext cx="4247051" cy="1046440"/>
          </a:xfrm>
          <a:prstGeom prst="rect">
            <a:avLst/>
          </a:prstGeom>
          <a:noFill/>
        </p:spPr>
        <p:txBody>
          <a:bodyPr wrap="square" rtlCol="0">
            <a:spAutoFit/>
          </a:bodyPr>
          <a:lstStyle/>
          <a:p>
            <a:r>
              <a:rPr lang="en-US" sz="1200" b="1">
                <a:effectLst/>
                <a:latin typeface="Century Gothic" panose="020B0502020202020204" pitchFamily="34" charset="0"/>
                <a:ea typeface="MS Mincho" panose="02020609040205080304" pitchFamily="49" charset="-128"/>
                <a:cs typeface="Times New Roman" panose="02020603050405020304" pitchFamily="18" charset="0"/>
              </a:rPr>
              <a:t>4.From the Electricity_Consumption.csv file:</a:t>
            </a:r>
            <a:br>
              <a:rPr lang="en-US" sz="1200" b="1">
                <a:effectLst/>
                <a:latin typeface="Century Gothic" panose="020B0502020202020204" pitchFamily="34" charset="0"/>
                <a:ea typeface="MS Mincho" panose="02020609040205080304" pitchFamily="49" charset="-128"/>
                <a:cs typeface="Times New Roman" panose="02020603050405020304" pitchFamily="18" charset="0"/>
              </a:rPr>
            </a:br>
            <a:r>
              <a:rPr lang="en-US" sz="1200" b="1">
                <a:effectLst/>
                <a:latin typeface="Century Gothic" panose="020B0502020202020204" pitchFamily="34" charset="0"/>
                <a:ea typeface="MS Mincho" panose="02020609040205080304" pitchFamily="49" charset="-128"/>
                <a:cs typeface="Times New Roman" panose="02020603050405020304" pitchFamily="18" charset="0"/>
              </a:rPr>
              <a:t>   a. How many columns and rows are in the dataset?</a:t>
            </a:r>
            <a:br>
              <a:rPr lang="en-US" sz="1200" b="1">
                <a:effectLst/>
                <a:latin typeface="Century Gothic" panose="020B0502020202020204" pitchFamily="34" charset="0"/>
                <a:ea typeface="MS Mincho" panose="02020609040205080304" pitchFamily="49" charset="-128"/>
                <a:cs typeface="Times New Roman" panose="02020603050405020304" pitchFamily="18" charset="0"/>
              </a:rPr>
            </a:br>
            <a:r>
              <a:rPr lang="en-US" sz="1200" b="1">
                <a:effectLst/>
                <a:latin typeface="Century Gothic" panose="020B0502020202020204" pitchFamily="34" charset="0"/>
                <a:ea typeface="MS Mincho" panose="02020609040205080304" pitchFamily="49" charset="-128"/>
                <a:cs typeface="Times New Roman" panose="02020603050405020304" pitchFamily="18" charset="0"/>
              </a:rPr>
              <a:t>   b. List 3 column data types you converted during cleaning.</a:t>
            </a:r>
            <a:endParaRPr lang="en-NG" sz="1200" b="1">
              <a:effectLst/>
              <a:latin typeface="Cambria" panose="02040503050406030204" pitchFamily="18" charset="0"/>
              <a:ea typeface="MS Mincho" panose="02020609040205080304" pitchFamily="49" charset="-128"/>
              <a:cs typeface="Times New Roman" panose="02020603050405020304" pitchFamily="18" charset="0"/>
            </a:endParaRPr>
          </a:p>
          <a:p>
            <a:endParaRPr lang="en-N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p:nvPr/>
        </p:nvSpPr>
        <p:spPr>
          <a:xfrm>
            <a:off x="160200" y="1109725"/>
            <a:ext cx="8823600" cy="3494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0" name="Google Shape;190;p27"/>
          <p:cNvSpPr txBox="1">
            <a:spLocks noGrp="1"/>
          </p:cNvSpPr>
          <p:nvPr>
            <p:ph type="title"/>
          </p:nvPr>
        </p:nvSpPr>
        <p:spPr>
          <a:xfrm>
            <a:off x="720000" y="640351"/>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Power Query vs Data View</a:t>
            </a:r>
            <a:endParaRPr/>
          </a:p>
        </p:txBody>
      </p:sp>
      <p:graphicFrame>
        <p:nvGraphicFramePr>
          <p:cNvPr id="4" name="Table 3">
            <a:extLst>
              <a:ext uri="{FF2B5EF4-FFF2-40B4-BE49-F238E27FC236}">
                <a16:creationId xmlns:a16="http://schemas.microsoft.com/office/drawing/2014/main" id="{0C0F95FD-AD65-4120-8D3A-0D1E610CA0D0}"/>
              </a:ext>
            </a:extLst>
          </p:cNvPr>
          <p:cNvGraphicFramePr>
            <a:graphicFrameLocks noGrp="1"/>
          </p:cNvGraphicFramePr>
          <p:nvPr>
            <p:extLst>
              <p:ext uri="{D42A27DB-BD31-4B8C-83A1-F6EECF244321}">
                <p14:modId xmlns:p14="http://schemas.microsoft.com/office/powerpoint/2010/main" val="805133205"/>
              </p:ext>
            </p:extLst>
          </p:nvPr>
        </p:nvGraphicFramePr>
        <p:xfrm>
          <a:off x="859972" y="1306285"/>
          <a:ext cx="7704000" cy="3390774"/>
        </p:xfrm>
        <a:graphic>
          <a:graphicData uri="http://schemas.openxmlformats.org/drawingml/2006/table">
            <a:tbl>
              <a:tblPr/>
              <a:tblGrid>
                <a:gridCol w="2568000">
                  <a:extLst>
                    <a:ext uri="{9D8B030D-6E8A-4147-A177-3AD203B41FA5}">
                      <a16:colId xmlns:a16="http://schemas.microsoft.com/office/drawing/2014/main" val="4040686356"/>
                    </a:ext>
                  </a:extLst>
                </a:gridCol>
                <a:gridCol w="2568000">
                  <a:extLst>
                    <a:ext uri="{9D8B030D-6E8A-4147-A177-3AD203B41FA5}">
                      <a16:colId xmlns:a16="http://schemas.microsoft.com/office/drawing/2014/main" val="3845146046"/>
                    </a:ext>
                  </a:extLst>
                </a:gridCol>
                <a:gridCol w="2568000">
                  <a:extLst>
                    <a:ext uri="{9D8B030D-6E8A-4147-A177-3AD203B41FA5}">
                      <a16:colId xmlns:a16="http://schemas.microsoft.com/office/drawing/2014/main" val="3770243105"/>
                    </a:ext>
                  </a:extLst>
                </a:gridCol>
              </a:tblGrid>
              <a:tr h="244419">
                <a:tc>
                  <a:txBody>
                    <a:bodyPr/>
                    <a:lstStyle/>
                    <a:p>
                      <a:r>
                        <a:rPr lang="en-GB" sz="1200" b="1"/>
                        <a:t>Feature</a:t>
                      </a:r>
                      <a:endParaRPr lang="en-GB" sz="1200"/>
                    </a:p>
                  </a:txBody>
                  <a:tcPr marL="77059" marR="77059" marT="38530" marB="38530" anchor="ctr">
                    <a:lnL>
                      <a:noFill/>
                    </a:lnL>
                    <a:lnR>
                      <a:noFill/>
                    </a:lnR>
                    <a:lnT>
                      <a:noFill/>
                    </a:lnT>
                    <a:lnB>
                      <a:noFill/>
                    </a:lnB>
                  </a:tcPr>
                </a:tc>
                <a:tc>
                  <a:txBody>
                    <a:bodyPr/>
                    <a:lstStyle/>
                    <a:p>
                      <a:r>
                        <a:rPr lang="en-GB" sz="1200" b="1"/>
                        <a:t>Power Query Editor</a:t>
                      </a:r>
                      <a:endParaRPr lang="en-GB" sz="1200"/>
                    </a:p>
                  </a:txBody>
                  <a:tcPr marL="77059" marR="77059" marT="38530" marB="38530" anchor="ctr">
                    <a:lnL>
                      <a:noFill/>
                    </a:lnL>
                    <a:lnR>
                      <a:noFill/>
                    </a:lnR>
                    <a:lnT>
                      <a:noFill/>
                    </a:lnT>
                    <a:lnB>
                      <a:noFill/>
                    </a:lnB>
                  </a:tcPr>
                </a:tc>
                <a:tc>
                  <a:txBody>
                    <a:bodyPr/>
                    <a:lstStyle/>
                    <a:p>
                      <a:r>
                        <a:rPr lang="en-GB" sz="1200" b="1"/>
                        <a:t>Data View</a:t>
                      </a:r>
                      <a:endParaRPr lang="en-GB" sz="1200"/>
                    </a:p>
                  </a:txBody>
                  <a:tcPr marL="77059" marR="77059" marT="38530" marB="38530" anchor="ctr">
                    <a:lnL>
                      <a:noFill/>
                    </a:lnL>
                    <a:lnR>
                      <a:noFill/>
                    </a:lnR>
                    <a:lnT>
                      <a:noFill/>
                    </a:lnT>
                    <a:lnB>
                      <a:noFill/>
                    </a:lnB>
                  </a:tcPr>
                </a:tc>
                <a:extLst>
                  <a:ext uri="{0D108BD9-81ED-4DB2-BD59-A6C34878D82A}">
                    <a16:rowId xmlns:a16="http://schemas.microsoft.com/office/drawing/2014/main" val="3768846120"/>
                  </a:ext>
                </a:extLst>
              </a:tr>
              <a:tr h="588337">
                <a:tc>
                  <a:txBody>
                    <a:bodyPr/>
                    <a:lstStyle/>
                    <a:p>
                      <a:r>
                        <a:rPr lang="en-GB" sz="1200" b="1"/>
                        <a:t>Purpose</a:t>
                      </a:r>
                      <a:endParaRPr lang="en-GB" sz="1200"/>
                    </a:p>
                  </a:txBody>
                  <a:tcPr marL="77059" marR="77059" marT="38530" marB="38530" anchor="ctr">
                    <a:lnL>
                      <a:noFill/>
                    </a:lnL>
                    <a:lnR>
                      <a:noFill/>
                    </a:lnR>
                    <a:lnT>
                      <a:noFill/>
                    </a:lnT>
                    <a:lnB>
                      <a:noFill/>
                    </a:lnB>
                  </a:tcPr>
                </a:tc>
                <a:tc>
                  <a:txBody>
                    <a:bodyPr/>
                    <a:lstStyle/>
                    <a:p>
                      <a:r>
                        <a:rPr lang="en-GB" sz="1200"/>
                        <a:t>Used to </a:t>
                      </a:r>
                      <a:r>
                        <a:rPr lang="en-GB" sz="1200" b="1"/>
                        <a:t>clean, transform, and prepare</a:t>
                      </a:r>
                      <a:r>
                        <a:rPr lang="en-GB" sz="1200"/>
                        <a:t> data before loading it into Power BI.</a:t>
                      </a:r>
                    </a:p>
                  </a:txBody>
                  <a:tcPr marL="77059" marR="77059" marT="38530" marB="38530" anchor="ctr">
                    <a:lnL>
                      <a:noFill/>
                    </a:lnL>
                    <a:lnR>
                      <a:noFill/>
                    </a:lnR>
                    <a:lnT>
                      <a:noFill/>
                    </a:lnT>
                    <a:lnB>
                      <a:noFill/>
                    </a:lnB>
                  </a:tcPr>
                </a:tc>
                <a:tc>
                  <a:txBody>
                    <a:bodyPr/>
                    <a:lstStyle/>
                    <a:p>
                      <a:r>
                        <a:rPr lang="en-GB" sz="1200"/>
                        <a:t>Used to </a:t>
                      </a:r>
                      <a:r>
                        <a:rPr lang="en-GB" sz="1200" b="1"/>
                        <a:t>view, explore, and create calculations</a:t>
                      </a:r>
                      <a:r>
                        <a:rPr lang="en-GB" sz="1200"/>
                        <a:t> after data is loaded.</a:t>
                      </a:r>
                    </a:p>
                  </a:txBody>
                  <a:tcPr marL="77059" marR="77059" marT="38530" marB="38530" anchor="ctr">
                    <a:lnL>
                      <a:noFill/>
                    </a:lnL>
                    <a:lnR>
                      <a:noFill/>
                    </a:lnR>
                    <a:lnT>
                      <a:noFill/>
                    </a:lnT>
                    <a:lnB>
                      <a:noFill/>
                    </a:lnB>
                  </a:tcPr>
                </a:tc>
                <a:extLst>
                  <a:ext uri="{0D108BD9-81ED-4DB2-BD59-A6C34878D82A}">
                    <a16:rowId xmlns:a16="http://schemas.microsoft.com/office/drawing/2014/main" val="1815333065"/>
                  </a:ext>
                </a:extLst>
              </a:tr>
              <a:tr h="244419">
                <a:tc>
                  <a:txBody>
                    <a:bodyPr/>
                    <a:lstStyle/>
                    <a:p>
                      <a:r>
                        <a:rPr lang="en-GB" sz="1200" b="1"/>
                        <a:t>When Used</a:t>
                      </a:r>
                      <a:endParaRPr lang="en-GB" sz="1200"/>
                    </a:p>
                  </a:txBody>
                  <a:tcPr marL="77059" marR="77059" marT="38530" marB="38530" anchor="ctr">
                    <a:lnL>
                      <a:noFill/>
                    </a:lnL>
                    <a:lnR>
                      <a:noFill/>
                    </a:lnR>
                    <a:lnT>
                      <a:noFill/>
                    </a:lnT>
                    <a:lnB>
                      <a:noFill/>
                    </a:lnB>
                  </a:tcPr>
                </a:tc>
                <a:tc>
                  <a:txBody>
                    <a:bodyPr/>
                    <a:lstStyle/>
                    <a:p>
                      <a:r>
                        <a:rPr lang="en-GB" sz="1200"/>
                        <a:t>Before loading data.</a:t>
                      </a:r>
                    </a:p>
                  </a:txBody>
                  <a:tcPr marL="77059" marR="77059" marT="38530" marB="38530" anchor="ctr">
                    <a:lnL>
                      <a:noFill/>
                    </a:lnL>
                    <a:lnR>
                      <a:noFill/>
                    </a:lnR>
                    <a:lnT>
                      <a:noFill/>
                    </a:lnT>
                    <a:lnB>
                      <a:noFill/>
                    </a:lnB>
                  </a:tcPr>
                </a:tc>
                <a:tc>
                  <a:txBody>
                    <a:bodyPr/>
                    <a:lstStyle/>
                    <a:p>
                      <a:r>
                        <a:rPr lang="en-GB" sz="1200"/>
                        <a:t>After data is loaded.</a:t>
                      </a:r>
                    </a:p>
                  </a:txBody>
                  <a:tcPr marL="77059" marR="77059" marT="38530" marB="38530" anchor="ctr">
                    <a:lnL>
                      <a:noFill/>
                    </a:lnL>
                    <a:lnR>
                      <a:noFill/>
                    </a:lnR>
                    <a:lnT>
                      <a:noFill/>
                    </a:lnT>
                    <a:lnB>
                      <a:noFill/>
                    </a:lnB>
                  </a:tcPr>
                </a:tc>
                <a:extLst>
                  <a:ext uri="{0D108BD9-81ED-4DB2-BD59-A6C34878D82A}">
                    <a16:rowId xmlns:a16="http://schemas.microsoft.com/office/drawing/2014/main" val="1079514743"/>
                  </a:ext>
                </a:extLst>
              </a:tr>
              <a:tr h="416378">
                <a:tc>
                  <a:txBody>
                    <a:bodyPr/>
                    <a:lstStyle/>
                    <a:p>
                      <a:r>
                        <a:rPr lang="en-GB" sz="1200" b="1"/>
                        <a:t>Language</a:t>
                      </a:r>
                      <a:endParaRPr lang="en-GB" sz="1200"/>
                    </a:p>
                  </a:txBody>
                  <a:tcPr marL="77059" marR="77059" marT="38530" marB="38530" anchor="ctr">
                    <a:lnL>
                      <a:noFill/>
                    </a:lnL>
                    <a:lnR>
                      <a:noFill/>
                    </a:lnR>
                    <a:lnT>
                      <a:noFill/>
                    </a:lnT>
                    <a:lnB>
                      <a:noFill/>
                    </a:lnB>
                  </a:tcPr>
                </a:tc>
                <a:tc>
                  <a:txBody>
                    <a:bodyPr/>
                    <a:lstStyle/>
                    <a:p>
                      <a:r>
                        <a:rPr lang="en-GB" sz="1200"/>
                        <a:t>Uses </a:t>
                      </a:r>
                      <a:r>
                        <a:rPr lang="en-GB" sz="1200" b="1"/>
                        <a:t>M language</a:t>
                      </a:r>
                      <a:r>
                        <a:rPr lang="en-GB" sz="1200"/>
                        <a:t> (Power Query formulas).</a:t>
                      </a:r>
                    </a:p>
                  </a:txBody>
                  <a:tcPr marL="77059" marR="77059" marT="38530" marB="38530" anchor="ctr">
                    <a:lnL>
                      <a:noFill/>
                    </a:lnL>
                    <a:lnR>
                      <a:noFill/>
                    </a:lnR>
                    <a:lnT>
                      <a:noFill/>
                    </a:lnT>
                    <a:lnB>
                      <a:noFill/>
                    </a:lnB>
                  </a:tcPr>
                </a:tc>
                <a:tc>
                  <a:txBody>
                    <a:bodyPr/>
                    <a:lstStyle/>
                    <a:p>
                      <a:r>
                        <a:rPr lang="en-GB" sz="1200"/>
                        <a:t>Uses </a:t>
                      </a:r>
                      <a:r>
                        <a:rPr lang="en-GB" sz="1200" b="1"/>
                        <a:t>DAX</a:t>
                      </a:r>
                      <a:r>
                        <a:rPr lang="en-GB" sz="1200"/>
                        <a:t> (Data Analysis Expressions).</a:t>
                      </a:r>
                    </a:p>
                  </a:txBody>
                  <a:tcPr marL="77059" marR="77059" marT="38530" marB="38530" anchor="ctr">
                    <a:lnL>
                      <a:noFill/>
                    </a:lnL>
                    <a:lnR>
                      <a:noFill/>
                    </a:lnR>
                    <a:lnT>
                      <a:noFill/>
                    </a:lnT>
                    <a:lnB>
                      <a:noFill/>
                    </a:lnB>
                  </a:tcPr>
                </a:tc>
                <a:extLst>
                  <a:ext uri="{0D108BD9-81ED-4DB2-BD59-A6C34878D82A}">
                    <a16:rowId xmlns:a16="http://schemas.microsoft.com/office/drawing/2014/main" val="3114546804"/>
                  </a:ext>
                </a:extLst>
              </a:tr>
              <a:tr h="588337">
                <a:tc>
                  <a:txBody>
                    <a:bodyPr/>
                    <a:lstStyle/>
                    <a:p>
                      <a:r>
                        <a:rPr lang="en-GB" sz="1200" b="1"/>
                        <a:t>Main Tasks</a:t>
                      </a:r>
                      <a:endParaRPr lang="en-GB" sz="1200"/>
                    </a:p>
                  </a:txBody>
                  <a:tcPr marL="77059" marR="77059" marT="38530" marB="38530" anchor="ctr">
                    <a:lnL>
                      <a:noFill/>
                    </a:lnL>
                    <a:lnR>
                      <a:noFill/>
                    </a:lnR>
                    <a:lnT>
                      <a:noFill/>
                    </a:lnT>
                    <a:lnB>
                      <a:noFill/>
                    </a:lnB>
                  </a:tcPr>
                </a:tc>
                <a:tc>
                  <a:txBody>
                    <a:bodyPr/>
                    <a:lstStyle/>
                    <a:p>
                      <a:r>
                        <a:rPr lang="en-GB" sz="1200"/>
                        <a:t>Remove duplicates, rename columns, merge tables, change data types.</a:t>
                      </a:r>
                    </a:p>
                  </a:txBody>
                  <a:tcPr marL="77059" marR="77059" marT="38530" marB="38530" anchor="ctr">
                    <a:lnL>
                      <a:noFill/>
                    </a:lnL>
                    <a:lnR>
                      <a:noFill/>
                    </a:lnR>
                    <a:lnT>
                      <a:noFill/>
                    </a:lnT>
                    <a:lnB>
                      <a:noFill/>
                    </a:lnB>
                  </a:tcPr>
                </a:tc>
                <a:tc>
                  <a:txBody>
                    <a:bodyPr/>
                    <a:lstStyle/>
                    <a:p>
                      <a:r>
                        <a:rPr lang="en-GB" sz="1200"/>
                        <a:t>Create measures, calculated columns, and validate data.</a:t>
                      </a:r>
                    </a:p>
                  </a:txBody>
                  <a:tcPr marL="77059" marR="77059" marT="38530" marB="38530" anchor="ctr">
                    <a:lnL>
                      <a:noFill/>
                    </a:lnL>
                    <a:lnR>
                      <a:noFill/>
                    </a:lnR>
                    <a:lnT>
                      <a:noFill/>
                    </a:lnT>
                    <a:lnB>
                      <a:noFill/>
                    </a:lnB>
                  </a:tcPr>
                </a:tc>
                <a:extLst>
                  <a:ext uri="{0D108BD9-81ED-4DB2-BD59-A6C34878D82A}">
                    <a16:rowId xmlns:a16="http://schemas.microsoft.com/office/drawing/2014/main" val="744783620"/>
                  </a:ext>
                </a:extLst>
              </a:tr>
              <a:tr h="588337">
                <a:tc>
                  <a:txBody>
                    <a:bodyPr/>
                    <a:lstStyle/>
                    <a:p>
                      <a:r>
                        <a:rPr lang="en-GB" sz="1200" b="1"/>
                        <a:t>Example</a:t>
                      </a:r>
                      <a:endParaRPr lang="en-GB" sz="1200"/>
                    </a:p>
                  </a:txBody>
                  <a:tcPr marL="77059" marR="77059" marT="38530" marB="38530" anchor="ctr">
                    <a:lnL>
                      <a:noFill/>
                    </a:lnL>
                    <a:lnR>
                      <a:noFill/>
                    </a:lnR>
                    <a:lnT>
                      <a:noFill/>
                    </a:lnT>
                    <a:lnB>
                      <a:noFill/>
                    </a:lnB>
                  </a:tcPr>
                </a:tc>
                <a:tc>
                  <a:txBody>
                    <a:bodyPr/>
                    <a:lstStyle/>
                    <a:p>
                      <a:r>
                        <a:rPr lang="en-GB" sz="1200"/>
                        <a:t>Changing “Regn” → “Region”, removing nulls, and filtering rows.</a:t>
                      </a:r>
                    </a:p>
                  </a:txBody>
                  <a:tcPr marL="77059" marR="77059" marT="38530" marB="38530" anchor="ctr">
                    <a:lnL>
                      <a:noFill/>
                    </a:lnL>
                    <a:lnR>
                      <a:noFill/>
                    </a:lnR>
                    <a:lnT>
                      <a:noFill/>
                    </a:lnT>
                    <a:lnB>
                      <a:noFill/>
                    </a:lnB>
                  </a:tcPr>
                </a:tc>
                <a:tc>
                  <a:txBody>
                    <a:bodyPr/>
                    <a:lstStyle/>
                    <a:p>
                      <a:r>
                        <a:rPr lang="en-GB" sz="1200"/>
                        <a:t>Creating a measure like Total Sales = SUM(Sales[Amount]).</a:t>
                      </a:r>
                    </a:p>
                  </a:txBody>
                  <a:tcPr marL="77059" marR="77059" marT="38530" marB="38530" anchor="ctr">
                    <a:lnL>
                      <a:noFill/>
                    </a:lnL>
                    <a:lnR>
                      <a:noFill/>
                    </a:lnR>
                    <a:lnT>
                      <a:noFill/>
                    </a:lnT>
                    <a:lnB>
                      <a:noFill/>
                    </a:lnB>
                  </a:tcPr>
                </a:tc>
                <a:extLst>
                  <a:ext uri="{0D108BD9-81ED-4DB2-BD59-A6C34878D82A}">
                    <a16:rowId xmlns:a16="http://schemas.microsoft.com/office/drawing/2014/main" val="983701429"/>
                  </a:ext>
                </a:extLst>
              </a:tr>
              <a:tr h="588337">
                <a:tc>
                  <a:txBody>
                    <a:bodyPr/>
                    <a:lstStyle/>
                    <a:p>
                      <a:endParaRPr lang="en-GB" sz="1200"/>
                    </a:p>
                  </a:txBody>
                  <a:tcPr marL="77059" marR="77059" marT="38530" marB="38530" anchor="ctr">
                    <a:lnL>
                      <a:noFill/>
                    </a:lnL>
                    <a:lnR>
                      <a:noFill/>
                    </a:lnR>
                    <a:lnT>
                      <a:noFill/>
                    </a:lnT>
                    <a:lnB>
                      <a:noFill/>
                    </a:lnB>
                  </a:tcPr>
                </a:tc>
                <a:tc>
                  <a:txBody>
                    <a:bodyPr/>
                    <a:lstStyle/>
                    <a:p>
                      <a:endParaRPr lang="en-GB" sz="1200"/>
                    </a:p>
                  </a:txBody>
                  <a:tcPr marL="77059" marR="77059" marT="38530" marB="38530" anchor="ctr">
                    <a:lnL>
                      <a:noFill/>
                    </a:lnL>
                    <a:lnR>
                      <a:noFill/>
                    </a:lnR>
                    <a:lnT>
                      <a:noFill/>
                    </a:lnT>
                    <a:lnB>
                      <a:noFill/>
                    </a:lnB>
                  </a:tcPr>
                </a:tc>
                <a:tc>
                  <a:txBody>
                    <a:bodyPr/>
                    <a:lstStyle/>
                    <a:p>
                      <a:endParaRPr lang="en-GB" sz="1200"/>
                    </a:p>
                  </a:txBody>
                  <a:tcPr marL="77059" marR="77059" marT="38530" marB="38530" anchor="ctr">
                    <a:lnL>
                      <a:noFill/>
                    </a:lnL>
                    <a:lnR>
                      <a:noFill/>
                    </a:lnR>
                    <a:lnT>
                      <a:noFill/>
                    </a:lnT>
                    <a:lnB>
                      <a:noFill/>
                    </a:lnB>
                  </a:tcPr>
                </a:tc>
                <a:extLst>
                  <a:ext uri="{0D108BD9-81ED-4DB2-BD59-A6C34878D82A}">
                    <a16:rowId xmlns:a16="http://schemas.microsoft.com/office/drawing/2014/main" val="2120941159"/>
                  </a:ext>
                </a:extLst>
              </a:tr>
            </a:tbl>
          </a:graphicData>
        </a:graphic>
      </p:graphicFrame>
      <p:sp>
        <p:nvSpPr>
          <p:cNvPr id="12" name="TextBox 11">
            <a:extLst>
              <a:ext uri="{FF2B5EF4-FFF2-40B4-BE49-F238E27FC236}">
                <a16:creationId xmlns:a16="http://schemas.microsoft.com/office/drawing/2014/main" id="{F37A23D1-6886-4538-A60B-39CFC6FA7114}"/>
              </a:ext>
            </a:extLst>
          </p:cNvPr>
          <p:cNvSpPr txBox="1"/>
          <p:nvPr/>
        </p:nvSpPr>
        <p:spPr>
          <a:xfrm>
            <a:off x="720000" y="92358"/>
            <a:ext cx="6040029" cy="738664"/>
          </a:xfrm>
          <a:prstGeom prst="rect">
            <a:avLst/>
          </a:prstGeom>
          <a:noFill/>
        </p:spPr>
        <p:txBody>
          <a:bodyPr wrap="square" rtlCol="0">
            <a:spAutoFit/>
          </a:bodyPr>
          <a:lstStyle/>
          <a:p>
            <a:r>
              <a:rPr lang="en-GB" b="1"/>
              <a:t>3.</a:t>
            </a:r>
            <a:r>
              <a:rPr lang="en-US" b="1">
                <a:effectLst/>
                <a:latin typeface="Century Gothic" panose="020B0502020202020204" pitchFamily="34" charset="0"/>
                <a:ea typeface="MS Mincho" panose="02020609040205080304" pitchFamily="49" charset="-128"/>
                <a:cs typeface="Times New Roman" panose="02020603050405020304" pitchFamily="18" charset="0"/>
              </a:rPr>
              <a:t> Explain the difference between Power Query Editor and the Data View in Power BI.</a:t>
            </a:r>
            <a:endParaRPr lang="en-NG" b="1">
              <a:effectLst/>
              <a:latin typeface="Cambria" panose="02040503050406030204" pitchFamily="18" charset="0"/>
              <a:ea typeface="MS Mincho" panose="02020609040205080304" pitchFamily="49" charset="-128"/>
              <a:cs typeface="Times New Roman" panose="02020603050405020304" pitchFamily="18" charset="0"/>
            </a:endParaRPr>
          </a:p>
          <a:p>
            <a:endParaRPr lang="en-NG"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4" name="TextBox 3">
            <a:extLst>
              <a:ext uri="{FF2B5EF4-FFF2-40B4-BE49-F238E27FC236}">
                <a16:creationId xmlns:a16="http://schemas.microsoft.com/office/drawing/2014/main" id="{F6B3CAF0-644A-4C21-B1C2-C466F87B9990}"/>
              </a:ext>
            </a:extLst>
          </p:cNvPr>
          <p:cNvSpPr txBox="1"/>
          <p:nvPr/>
        </p:nvSpPr>
        <p:spPr>
          <a:xfrm>
            <a:off x="805544" y="97972"/>
            <a:ext cx="7968343" cy="5255285"/>
          </a:xfrm>
          <a:prstGeom prst="rect">
            <a:avLst/>
          </a:prstGeom>
          <a:noFill/>
        </p:spPr>
        <p:txBody>
          <a:bodyPr wrap="square" rtlCol="0">
            <a:spAutoFit/>
          </a:bodyPr>
          <a:lstStyle/>
          <a:p>
            <a:r>
              <a:rPr lang="en-GB" b="1"/>
              <a:t>5.</a:t>
            </a:r>
            <a:r>
              <a:rPr lang="en-US" b="1">
                <a:effectLst/>
                <a:latin typeface="Century Gothic" panose="020B0502020202020204" pitchFamily="34" charset="0"/>
                <a:ea typeface="MS Mincho" panose="02020609040205080304" pitchFamily="49" charset="-128"/>
                <a:cs typeface="Times New Roman" panose="02020603050405020304" pitchFamily="18" charset="0"/>
              </a:rPr>
              <a:t> What is the purpose of a relationship between tables?</a:t>
            </a:r>
            <a:br>
              <a:rPr lang="en-US" b="1">
                <a:effectLst/>
                <a:latin typeface="Century Gothic" panose="020B0502020202020204" pitchFamily="34" charset="0"/>
                <a:ea typeface="MS Mincho" panose="02020609040205080304" pitchFamily="49" charset="-128"/>
                <a:cs typeface="Times New Roman" panose="02020603050405020304" pitchFamily="18" charset="0"/>
              </a:rPr>
            </a:br>
            <a:endParaRPr lang="en-NG" b="1">
              <a:effectLst/>
              <a:latin typeface="Cambria" panose="02040503050406030204" pitchFamily="18" charset="0"/>
              <a:ea typeface="MS Mincho" panose="02020609040205080304" pitchFamily="49" charset="-128"/>
              <a:cs typeface="Times New Roman" panose="02020603050405020304" pitchFamily="18" charset="0"/>
            </a:endParaRPr>
          </a:p>
          <a:p>
            <a:pPr>
              <a:lnSpc>
                <a:spcPct val="150000"/>
              </a:lnSpc>
            </a:pPr>
            <a:r>
              <a:rPr lang="en-GB" sz="1100"/>
              <a:t>A </a:t>
            </a:r>
            <a:r>
              <a:rPr lang="en-GB" sz="1100" b="1"/>
              <a:t>relationship</a:t>
            </a:r>
            <a:r>
              <a:rPr lang="en-GB" sz="1100"/>
              <a:t> connects two or more tables so data from different sources can be analysed with a common variable</a:t>
            </a:r>
            <a:br>
              <a:rPr lang="en-GB" sz="1100"/>
            </a:br>
            <a:r>
              <a:rPr lang="en-GB" sz="1100" b="1"/>
              <a:t>Purpose:</a:t>
            </a:r>
          </a:p>
          <a:p>
            <a:pPr>
              <a:lnSpc>
                <a:spcPct val="150000"/>
              </a:lnSpc>
              <a:buFont typeface="Arial" panose="020B0604020202020204" pitchFamily="34" charset="0"/>
              <a:buChar char="•"/>
            </a:pPr>
            <a:r>
              <a:rPr lang="en-GB" sz="1100"/>
              <a:t>To </a:t>
            </a:r>
            <a:r>
              <a:rPr lang="en-GB" sz="1100" b="1"/>
              <a:t>combine data</a:t>
            </a:r>
            <a:r>
              <a:rPr lang="en-GB" sz="1100"/>
              <a:t> across tables without duplicating it.</a:t>
            </a:r>
          </a:p>
          <a:p>
            <a:pPr>
              <a:lnSpc>
                <a:spcPct val="150000"/>
              </a:lnSpc>
              <a:buFont typeface="Arial" panose="020B0604020202020204" pitchFamily="34" charset="0"/>
              <a:buChar char="•"/>
            </a:pPr>
            <a:r>
              <a:rPr lang="en-GB" sz="1100"/>
              <a:t>To let visuals and calculations </a:t>
            </a:r>
            <a:r>
              <a:rPr lang="en-GB" sz="1100" b="1"/>
              <a:t>interact seamlessly</a:t>
            </a:r>
            <a:r>
              <a:rPr lang="en-GB" sz="1100"/>
              <a:t>.</a:t>
            </a:r>
          </a:p>
          <a:p>
            <a:pPr>
              <a:lnSpc>
                <a:spcPct val="150000"/>
              </a:lnSpc>
            </a:pPr>
            <a:r>
              <a:rPr lang="en-GB" sz="1100"/>
              <a:t>To enable </a:t>
            </a:r>
            <a:r>
              <a:rPr lang="en-GB" sz="1100" b="1"/>
              <a:t>accurate filtering, summarizing, and analysis</a:t>
            </a:r>
            <a:r>
              <a:rPr lang="en-GB" sz="1100"/>
              <a:t> across related datasets.</a:t>
            </a:r>
            <a:br>
              <a:rPr lang="en-GB" sz="1100"/>
            </a:br>
            <a:r>
              <a:rPr lang="en-GB" sz="1100" b="1"/>
              <a:t>Example: </a:t>
            </a:r>
            <a:r>
              <a:rPr lang="en-GB" sz="1100"/>
              <a:t>Connecting Electricity Consumption with Billing using two common variables i.e. Date and Customer ID</a:t>
            </a:r>
            <a:br>
              <a:rPr lang="en-GB" sz="1100"/>
            </a:br>
            <a:r>
              <a:rPr lang="en-GB" sz="1100" b="1"/>
              <a:t>Types of Relationships:</a:t>
            </a:r>
          </a:p>
          <a:p>
            <a:pPr>
              <a:lnSpc>
                <a:spcPct val="150000"/>
              </a:lnSpc>
              <a:buFont typeface="Arial" panose="020B0604020202020204" pitchFamily="34" charset="0"/>
              <a:buChar char="•"/>
            </a:pPr>
            <a:r>
              <a:rPr lang="en-GB" sz="1100" b="1"/>
              <a:t>One-to-Many (1:*):</a:t>
            </a:r>
            <a:r>
              <a:rPr lang="en-GB" sz="1100"/>
              <a:t> Most common — e.g., one product → many sales.</a:t>
            </a:r>
          </a:p>
          <a:p>
            <a:pPr>
              <a:lnSpc>
                <a:spcPct val="150000"/>
              </a:lnSpc>
              <a:buFont typeface="Arial" panose="020B0604020202020204" pitchFamily="34" charset="0"/>
              <a:buChar char="•"/>
            </a:pPr>
            <a:r>
              <a:rPr lang="en-GB" sz="1100" b="1"/>
              <a:t>Many-to-Many:</a:t>
            </a:r>
            <a:r>
              <a:rPr lang="en-GB" sz="1100"/>
              <a:t> Used for complex datasets (e.g., students &amp; courses).</a:t>
            </a:r>
          </a:p>
          <a:p>
            <a:pPr>
              <a:lnSpc>
                <a:spcPct val="150000"/>
              </a:lnSpc>
              <a:buFont typeface="Arial" panose="020B0604020202020204" pitchFamily="34" charset="0"/>
              <a:buChar char="•"/>
            </a:pPr>
            <a:r>
              <a:rPr lang="en-GB" sz="1100" b="1"/>
              <a:t>One-to-One:</a:t>
            </a:r>
            <a:r>
              <a:rPr lang="en-GB" sz="1100"/>
              <a:t> Used for matching unique records.</a:t>
            </a:r>
            <a:br>
              <a:rPr lang="en-GB" sz="1100"/>
            </a:br>
            <a:r>
              <a:rPr lang="en-GB" b="1"/>
              <a:t>9.</a:t>
            </a:r>
            <a:r>
              <a:rPr lang="en-US" b="1">
                <a:effectLst/>
                <a:latin typeface="Century Gothic" panose="020B0502020202020204" pitchFamily="34" charset="0"/>
                <a:ea typeface="MS Mincho" panose="02020609040205080304" pitchFamily="49" charset="-128"/>
                <a:cs typeface="Times New Roman" panose="02020603050405020304" pitchFamily="18" charset="0"/>
              </a:rPr>
              <a:t>Explain what happens when you apply a filter at the visual level vs. page level.</a:t>
            </a:r>
            <a:endParaRPr lang="en-NG" sz="1050" b="1">
              <a:effectLst/>
              <a:latin typeface="Cambria" panose="02040503050406030204" pitchFamily="18" charset="0"/>
              <a:ea typeface="MS Mincho" panose="02020609040205080304" pitchFamily="49" charset="-128"/>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050" b="1" i="0" u="none" strike="noStrike" cap="none" normalizeH="0" baseline="0">
                <a:ln>
                  <a:noFill/>
                </a:ln>
                <a:solidFill>
                  <a:schemeClr val="tx1"/>
                </a:solidFill>
                <a:effectLst/>
                <a:latin typeface="Arial" panose="020B0604020202020204" pitchFamily="34" charset="0"/>
              </a:rPr>
              <a:t>Visual-Level Filter:</a:t>
            </a:r>
            <a:r>
              <a:rPr kumimoji="0" lang="en-NG" altLang="en-NG" sz="1050" b="0" i="0" u="none" strike="noStrike" cap="none" normalizeH="0" baseline="0">
                <a:ln>
                  <a:noFill/>
                </a:ln>
                <a:solidFill>
                  <a:schemeClr val="tx1"/>
                </a:solidFill>
                <a:effectLst/>
                <a:latin typeface="Arial" panose="020B0604020202020204" pitchFamily="34" charset="0"/>
              </a:rPr>
              <a:t> Affects </a:t>
            </a:r>
            <a:r>
              <a:rPr kumimoji="0" lang="en-NG" altLang="en-NG" sz="1050" b="1" i="0" u="none" strike="noStrike" cap="none" normalizeH="0" baseline="0">
                <a:ln>
                  <a:noFill/>
                </a:ln>
                <a:solidFill>
                  <a:schemeClr val="tx1"/>
                </a:solidFill>
                <a:effectLst/>
                <a:latin typeface="Arial" panose="020B0604020202020204" pitchFamily="34" charset="0"/>
              </a:rPr>
              <a:t>only one visual</a:t>
            </a:r>
            <a:r>
              <a:rPr kumimoji="0" lang="en-NG" altLang="en-NG" sz="1050" b="0" i="0" u="none" strike="noStrike" cap="none" normalizeH="0" baseline="0">
                <a:ln>
                  <a:noFill/>
                </a:ln>
                <a:solidFill>
                  <a:schemeClr val="tx1"/>
                </a:solidFill>
                <a:effectLst/>
                <a:latin typeface="Arial" panose="020B0604020202020204" pitchFamily="34" charset="0"/>
              </a:rPr>
              <a:t> (chart, table, or card).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050" b="1" i="0" u="none" strike="noStrike" cap="none" normalizeH="0" baseline="0">
                <a:ln>
                  <a:noFill/>
                </a:ln>
                <a:solidFill>
                  <a:schemeClr val="tx1"/>
                </a:solidFill>
                <a:effectLst/>
                <a:latin typeface="Arial" panose="020B0604020202020204" pitchFamily="34" charset="0"/>
              </a:rPr>
              <a:t>Page-Level Filter:</a:t>
            </a:r>
            <a:r>
              <a:rPr kumimoji="0" lang="en-NG" altLang="en-NG" sz="1050" b="0" i="0" u="none" strike="noStrike" cap="none" normalizeH="0" baseline="0">
                <a:ln>
                  <a:noFill/>
                </a:ln>
                <a:solidFill>
                  <a:schemeClr val="tx1"/>
                </a:solidFill>
                <a:effectLst/>
                <a:latin typeface="Arial" panose="020B0604020202020204" pitchFamily="34" charset="0"/>
              </a:rPr>
              <a:t> Affects </a:t>
            </a:r>
            <a:r>
              <a:rPr kumimoji="0" lang="en-NG" altLang="en-NG" sz="1050" b="1" i="0" u="none" strike="noStrike" cap="none" normalizeH="0" baseline="0">
                <a:ln>
                  <a:noFill/>
                </a:ln>
                <a:solidFill>
                  <a:schemeClr val="tx1"/>
                </a:solidFill>
                <a:effectLst/>
                <a:latin typeface="Arial" panose="020B0604020202020204" pitchFamily="34" charset="0"/>
              </a:rPr>
              <a:t>all visuals on the same page</a:t>
            </a:r>
            <a:r>
              <a:rPr kumimoji="0" lang="en-NG" altLang="en-NG" sz="1050" b="0" i="0" u="none" strike="noStrike" cap="none" normalizeH="0" baseline="0">
                <a:ln>
                  <a:noFill/>
                </a:ln>
                <a:solidFill>
                  <a:schemeClr val="tx1"/>
                </a:solidFill>
                <a:effectLst/>
                <a:latin typeface="Arial" panose="020B0604020202020204" pitchFamily="34" charset="0"/>
              </a:rPr>
              <a:t>.</a:t>
            </a:r>
            <a:endParaRPr kumimoji="0" lang="en-GB" altLang="en-NG" sz="105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GB" altLang="en-NG" sz="1200" b="1">
                <a:solidFill>
                  <a:schemeClr val="tx1"/>
                </a:solidFill>
                <a:latin typeface="Arial" panose="020B0604020202020204" pitchFamily="34" charset="0"/>
              </a:rPr>
              <a:t>PURPOSE</a:t>
            </a:r>
            <a:endParaRPr kumimoji="0" lang="en-NG" altLang="en-NG" sz="1200" b="1" i="0" u="none" strike="noStrike" cap="none" normalizeH="0" baseline="0">
              <a:ln>
                <a:noFill/>
              </a:ln>
              <a:solidFill>
                <a:schemeClr val="tx1"/>
              </a:solidFill>
              <a:effectLst/>
              <a:latin typeface="Arial" panose="020B0604020202020204" pitchFamily="34" charset="0"/>
            </a:endParaRPr>
          </a:p>
          <a:p>
            <a:r>
              <a:rPr lang="en-GB" sz="1100" b="1"/>
              <a:t>Visual-Level:</a:t>
            </a:r>
            <a:r>
              <a:rPr lang="en-GB" sz="1100"/>
              <a:t> Customize a single chart without changing others. Page</a:t>
            </a:r>
            <a:r>
              <a:rPr lang="en-GB" sz="1100" b="1"/>
              <a:t>-Level:</a:t>
            </a:r>
            <a:r>
              <a:rPr lang="en-GB" sz="1100"/>
              <a:t> Apply a filter to all visuals on the page at once.</a:t>
            </a:r>
          </a:p>
          <a:p>
            <a:pPr>
              <a:lnSpc>
                <a:spcPct val="150000"/>
              </a:lnSpc>
            </a:pPr>
            <a:br>
              <a:rPr lang="en-GB" sz="1100"/>
            </a:br>
            <a:br>
              <a:rPr lang="en-GB" sz="1100"/>
            </a:br>
            <a:endParaRPr lang="en-GB" sz="1100"/>
          </a:p>
          <a:p>
            <a:pPr>
              <a:buFont typeface="Arial" panose="020B0604020202020204" pitchFamily="34" charset="0"/>
              <a:buChar char="•"/>
            </a:pPr>
            <a:endParaRPr lang="en-GB"/>
          </a:p>
          <a:p>
            <a:endParaRPr lang="en-NG"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4" name="TextBox 3">
            <a:extLst>
              <a:ext uri="{FF2B5EF4-FFF2-40B4-BE49-F238E27FC236}">
                <a16:creationId xmlns:a16="http://schemas.microsoft.com/office/drawing/2014/main" id="{F6B3CAF0-644A-4C21-B1C2-C466F87B9990}"/>
              </a:ext>
            </a:extLst>
          </p:cNvPr>
          <p:cNvSpPr txBox="1"/>
          <p:nvPr/>
        </p:nvSpPr>
        <p:spPr>
          <a:xfrm>
            <a:off x="696686" y="435429"/>
            <a:ext cx="7968343" cy="523220"/>
          </a:xfrm>
          <a:prstGeom prst="rect">
            <a:avLst/>
          </a:prstGeom>
          <a:noFill/>
        </p:spPr>
        <p:txBody>
          <a:bodyPr wrap="square" rtlCol="0">
            <a:spAutoFit/>
          </a:bodyPr>
          <a:lstStyle/>
          <a:p>
            <a:pPr>
              <a:buFont typeface="Arial" panose="020B0604020202020204" pitchFamily="34" charset="0"/>
              <a:buChar char="•"/>
            </a:pPr>
            <a:endParaRPr lang="en-GB"/>
          </a:p>
          <a:p>
            <a:endParaRPr lang="en-NG" b="1"/>
          </a:p>
        </p:txBody>
      </p:sp>
      <p:sp>
        <p:nvSpPr>
          <p:cNvPr id="14" name="TextBox 13">
            <a:extLst>
              <a:ext uri="{FF2B5EF4-FFF2-40B4-BE49-F238E27FC236}">
                <a16:creationId xmlns:a16="http://schemas.microsoft.com/office/drawing/2014/main" id="{2FD948CD-6716-4871-82EB-6AE92978ED8B}"/>
              </a:ext>
            </a:extLst>
          </p:cNvPr>
          <p:cNvSpPr txBox="1"/>
          <p:nvPr/>
        </p:nvSpPr>
        <p:spPr>
          <a:xfrm>
            <a:off x="272143" y="108857"/>
            <a:ext cx="8577943" cy="5755422"/>
          </a:xfrm>
          <a:prstGeom prst="rect">
            <a:avLst/>
          </a:prstGeom>
          <a:noFill/>
        </p:spPr>
        <p:txBody>
          <a:bodyPr wrap="square" rtlCol="0">
            <a:spAutoFit/>
          </a:bodyPr>
          <a:lstStyle/>
          <a:p>
            <a:pPr>
              <a:lnSpc>
                <a:spcPct val="150000"/>
              </a:lnSpc>
            </a:pPr>
            <a:r>
              <a:rPr lang="en-US" sz="1200" b="1">
                <a:effectLst/>
                <a:latin typeface="Century Gothic" panose="020B0502020202020204" pitchFamily="34" charset="0"/>
                <a:ea typeface="MS Mincho" panose="02020609040205080304" pitchFamily="49" charset="-128"/>
                <a:cs typeface="Times New Roman" panose="02020603050405020304" pitchFamily="18" charset="0"/>
              </a:rPr>
              <a:t>10.Define DAX and give one simple example (e.g., Total Paid = SUM(Revenue Paid).</a:t>
            </a:r>
            <a:br>
              <a:rPr lang="en-US" sz="1200" b="1">
                <a:effectLst/>
                <a:latin typeface="Century Gothic" panose="020B0502020202020204" pitchFamily="34" charset="0"/>
                <a:ea typeface="MS Mincho" panose="02020609040205080304" pitchFamily="49" charset="-128"/>
                <a:cs typeface="Times New Roman" panose="02020603050405020304" pitchFamily="18" charset="0"/>
              </a:rPr>
            </a:br>
            <a:r>
              <a:rPr lang="en-GB" sz="1050"/>
              <a:t>DAX is a  short for </a:t>
            </a:r>
            <a:r>
              <a:rPr lang="en-GB" sz="1050" b="1"/>
              <a:t>D</a:t>
            </a:r>
            <a:r>
              <a:rPr lang="en-GB" sz="1050"/>
              <a:t>ata </a:t>
            </a:r>
            <a:r>
              <a:rPr lang="en-GB" sz="1050" b="1"/>
              <a:t>A</a:t>
            </a:r>
            <a:r>
              <a:rPr lang="en-GB" sz="1050"/>
              <a:t>nalytical </a:t>
            </a:r>
            <a:r>
              <a:rPr lang="en-GB" sz="1050" err="1"/>
              <a:t>e</a:t>
            </a:r>
            <a:r>
              <a:rPr lang="en-GB" sz="1050" b="1" err="1"/>
              <a:t>X</a:t>
            </a:r>
            <a:r>
              <a:rPr lang="en-GB" sz="1050" err="1"/>
              <a:t>pression</a:t>
            </a:r>
            <a:r>
              <a:rPr lang="en-GB" sz="1050"/>
              <a:t>  is a </a:t>
            </a:r>
            <a:r>
              <a:rPr lang="en-GB" sz="1050" b="1"/>
              <a:t>powerful formula language</a:t>
            </a:r>
            <a:r>
              <a:rPr lang="en-GB" sz="1050"/>
              <a:t> in Power BI, Power Pivot, and Analysis Services that allows one  to </a:t>
            </a:r>
            <a:r>
              <a:rPr lang="en-GB" sz="1050" b="1"/>
              <a:t>create dynamic calculations and </a:t>
            </a:r>
            <a:r>
              <a:rPr lang="en-GB" sz="1050" b="1" err="1"/>
              <a:t>analyze</a:t>
            </a:r>
            <a:r>
              <a:rPr lang="en-GB" sz="1050" b="1"/>
              <a:t> data across tables</a:t>
            </a:r>
            <a:r>
              <a:rPr lang="en-GB" sz="1050"/>
              <a:t>.</a:t>
            </a:r>
            <a:br>
              <a:rPr lang="en-GB" sz="1050"/>
            </a:br>
            <a:r>
              <a:rPr lang="en-GB" sz="1200" b="1"/>
              <a:t>Key Uses:</a:t>
            </a:r>
            <a:br>
              <a:rPr lang="en-GB" sz="1200" b="1"/>
            </a:br>
            <a:r>
              <a:rPr lang="en-GB" sz="1100" b="1"/>
              <a:t>Measures:</a:t>
            </a:r>
            <a:r>
              <a:rPr lang="en-GB" sz="1100"/>
              <a:t> Perform calculations like totals, averages, or percentages that update automatically with filters.</a:t>
            </a:r>
            <a:br>
              <a:rPr lang="en-GB" sz="1100"/>
            </a:br>
            <a:r>
              <a:rPr lang="en-GB" sz="1100" b="1"/>
              <a:t>Calculated Columns:</a:t>
            </a:r>
            <a:r>
              <a:rPr lang="en-GB" sz="1100"/>
              <a:t> Add new columns derived from existing data for row-level calculations.</a:t>
            </a:r>
            <a:br>
              <a:rPr lang="en-GB" sz="1100"/>
            </a:br>
            <a:r>
              <a:rPr lang="en-GB" sz="1100" b="1"/>
              <a:t>Calculated Tables:</a:t>
            </a:r>
            <a:r>
              <a:rPr lang="en-GB" sz="1100"/>
              <a:t> Generate new tables based on existing tables or expressions.</a:t>
            </a:r>
            <a:br>
              <a:rPr lang="en-GB" sz="1100"/>
            </a:br>
            <a:r>
              <a:rPr lang="en-GB" sz="1100" b="1"/>
              <a:t>Advanced Analysis:</a:t>
            </a:r>
            <a:r>
              <a:rPr lang="en-GB" sz="1100"/>
              <a:t> Supports filtering, time intelligence (e.g., year-to-date, comparisons), and complex business logic.</a:t>
            </a:r>
            <a:br>
              <a:rPr lang="en-GB" sz="1100"/>
            </a:br>
            <a:r>
              <a:rPr lang="en-GB" sz="1100" b="1">
                <a:solidFill>
                  <a:srgbClr val="000000"/>
                </a:solidFill>
                <a:effectLst/>
                <a:highlight>
                  <a:srgbClr val="FFFF00"/>
                </a:highlight>
                <a:latin typeface="Consolas" panose="020B0609020204030204" pitchFamily="49" charset="0"/>
              </a:rPr>
              <a:t>Outstanding Revenue = </a:t>
            </a:r>
            <a:r>
              <a:rPr lang="en-GB" sz="1100" b="1">
                <a:solidFill>
                  <a:srgbClr val="3165BB"/>
                </a:solidFill>
                <a:effectLst/>
                <a:highlight>
                  <a:srgbClr val="FFFF00"/>
                </a:highlight>
                <a:latin typeface="Consolas" panose="020B0609020204030204" pitchFamily="49" charset="0"/>
              </a:rPr>
              <a:t>SUM</a:t>
            </a:r>
            <a:r>
              <a:rPr lang="en-GB" sz="1100" b="1">
                <a:solidFill>
                  <a:srgbClr val="000000"/>
                </a:solidFill>
                <a:effectLst/>
                <a:highlight>
                  <a:srgbClr val="FFFF00"/>
                </a:highlight>
                <a:latin typeface="Consolas" panose="020B0609020204030204" pitchFamily="49" charset="0"/>
              </a:rPr>
              <a:t>(</a:t>
            </a:r>
            <a:r>
              <a:rPr lang="en-GB" sz="1100" b="1" err="1">
                <a:solidFill>
                  <a:srgbClr val="001080"/>
                </a:solidFill>
                <a:effectLst/>
                <a:highlight>
                  <a:srgbClr val="FFFF00"/>
                </a:highlight>
                <a:latin typeface="Consolas" panose="020B0609020204030204" pitchFamily="49" charset="0"/>
              </a:rPr>
              <a:t>Billing_Payment</a:t>
            </a:r>
            <a:r>
              <a:rPr lang="en-GB" sz="1100" b="1">
                <a:solidFill>
                  <a:srgbClr val="001080"/>
                </a:solidFill>
                <a:effectLst/>
                <a:highlight>
                  <a:srgbClr val="FFFF00"/>
                </a:highlight>
                <a:latin typeface="Consolas" panose="020B0609020204030204" pitchFamily="49" charset="0"/>
              </a:rPr>
              <a:t>[</a:t>
            </a:r>
            <a:r>
              <a:rPr lang="en-GB" sz="1100" b="1" err="1">
                <a:solidFill>
                  <a:srgbClr val="001080"/>
                </a:solidFill>
                <a:effectLst/>
                <a:highlight>
                  <a:srgbClr val="FFFF00"/>
                </a:highlight>
                <a:latin typeface="Consolas" panose="020B0609020204030204" pitchFamily="49" charset="0"/>
              </a:rPr>
              <a:t>Revenue_Billed</a:t>
            </a:r>
            <a:r>
              <a:rPr lang="en-GB" sz="1100" b="1">
                <a:solidFill>
                  <a:srgbClr val="001080"/>
                </a:solidFill>
                <a:effectLst/>
                <a:highlight>
                  <a:srgbClr val="FFFF00"/>
                </a:highlight>
                <a:latin typeface="Consolas" panose="020B0609020204030204" pitchFamily="49" charset="0"/>
              </a:rPr>
              <a:t>]</a:t>
            </a:r>
            <a:r>
              <a:rPr lang="en-GB" sz="1100" b="1">
                <a:solidFill>
                  <a:srgbClr val="000000"/>
                </a:solidFill>
                <a:effectLst/>
                <a:highlight>
                  <a:srgbClr val="FFFF00"/>
                </a:highlight>
                <a:latin typeface="Consolas" panose="020B0609020204030204" pitchFamily="49" charset="0"/>
              </a:rPr>
              <a:t>)- </a:t>
            </a:r>
            <a:r>
              <a:rPr lang="en-GB" sz="1100" b="1">
                <a:solidFill>
                  <a:srgbClr val="3165BB"/>
                </a:solidFill>
                <a:effectLst/>
                <a:highlight>
                  <a:srgbClr val="FFFF00"/>
                </a:highlight>
                <a:latin typeface="Consolas" panose="020B0609020204030204" pitchFamily="49" charset="0"/>
              </a:rPr>
              <a:t>SUM</a:t>
            </a:r>
            <a:r>
              <a:rPr lang="en-GB" sz="1100" b="1">
                <a:solidFill>
                  <a:srgbClr val="000000"/>
                </a:solidFill>
                <a:effectLst/>
                <a:highlight>
                  <a:srgbClr val="FFFF00"/>
                </a:highlight>
                <a:latin typeface="Consolas" panose="020B0609020204030204" pitchFamily="49" charset="0"/>
              </a:rPr>
              <a:t>(</a:t>
            </a:r>
            <a:r>
              <a:rPr lang="en-GB" sz="1100" b="1" err="1">
                <a:solidFill>
                  <a:srgbClr val="001080"/>
                </a:solidFill>
                <a:effectLst/>
                <a:highlight>
                  <a:srgbClr val="FFFF00"/>
                </a:highlight>
                <a:latin typeface="Consolas" panose="020B0609020204030204" pitchFamily="49" charset="0"/>
              </a:rPr>
              <a:t>Billing_Payment</a:t>
            </a:r>
            <a:r>
              <a:rPr lang="en-GB" sz="1100" b="1">
                <a:solidFill>
                  <a:srgbClr val="001080"/>
                </a:solidFill>
                <a:effectLst/>
                <a:highlight>
                  <a:srgbClr val="FFFF00"/>
                </a:highlight>
                <a:latin typeface="Consolas" panose="020B0609020204030204" pitchFamily="49" charset="0"/>
              </a:rPr>
              <a:t>[</a:t>
            </a:r>
            <a:r>
              <a:rPr lang="en-GB" sz="1100" b="1" err="1">
                <a:solidFill>
                  <a:srgbClr val="001080"/>
                </a:solidFill>
                <a:effectLst/>
                <a:highlight>
                  <a:srgbClr val="FFFF00"/>
                </a:highlight>
                <a:latin typeface="Consolas" panose="020B0609020204030204" pitchFamily="49" charset="0"/>
              </a:rPr>
              <a:t>Revenue_Paid</a:t>
            </a:r>
            <a:r>
              <a:rPr lang="en-GB" sz="1100" b="1">
                <a:solidFill>
                  <a:srgbClr val="001080"/>
                </a:solidFill>
                <a:effectLst/>
                <a:highlight>
                  <a:srgbClr val="FFFF00"/>
                </a:highlight>
                <a:latin typeface="Consolas" panose="020B0609020204030204" pitchFamily="49" charset="0"/>
              </a:rPr>
              <a:t>]</a:t>
            </a:r>
            <a:r>
              <a:rPr lang="en-GB" sz="1100" b="1">
                <a:solidFill>
                  <a:srgbClr val="000000"/>
                </a:solidFill>
                <a:effectLst/>
                <a:highlight>
                  <a:srgbClr val="FFFF00"/>
                </a:highlight>
                <a:latin typeface="Consolas" panose="020B0609020204030204" pitchFamily="49" charset="0"/>
              </a:rPr>
              <a:t>)</a:t>
            </a:r>
            <a:br>
              <a:rPr lang="en-GB" sz="1100" b="1">
                <a:solidFill>
                  <a:srgbClr val="000000"/>
                </a:solidFill>
                <a:effectLst/>
                <a:highlight>
                  <a:srgbClr val="FFFF00"/>
                </a:highlight>
                <a:latin typeface="Consolas" panose="020B0609020204030204" pitchFamily="49" charset="0"/>
              </a:rPr>
            </a:br>
            <a:r>
              <a:rPr lang="en-GB" sz="1100" b="1">
                <a:solidFill>
                  <a:srgbClr val="000000"/>
                </a:solidFill>
                <a:effectLst/>
                <a:highlight>
                  <a:srgbClr val="FFFF00"/>
                </a:highlight>
                <a:latin typeface="Consolas" panose="020B0609020204030204" pitchFamily="49" charset="0"/>
              </a:rPr>
              <a:t>20</a:t>
            </a:r>
            <a:r>
              <a:rPr lang="en-GB" sz="1100" b="1">
                <a:highlight>
                  <a:srgbClr val="FFFF00"/>
                </a:highlight>
              </a:rPr>
              <a:t>. </a:t>
            </a:r>
            <a:r>
              <a:rPr lang="en-US" sz="1100" b="1">
                <a:effectLst/>
                <a:latin typeface="Century Gothic" panose="020B0502020202020204" pitchFamily="34" charset="0"/>
                <a:ea typeface="MS Mincho" panose="02020609040205080304" pitchFamily="49" charset="-128"/>
                <a:cs typeface="Times New Roman" panose="02020603050405020304" pitchFamily="18" charset="0"/>
              </a:rPr>
              <a:t>How would you handle missing or blank values in Power Query?</a:t>
            </a:r>
            <a:endParaRPr lang="en-NG" sz="1100" b="1">
              <a:effectLst/>
              <a:latin typeface="Cambria" panose="02040503050406030204" pitchFamily="18" charset="0"/>
              <a:ea typeface="MS Mincho" panose="02020609040205080304" pitchFamily="49" charset="-128"/>
              <a:cs typeface="Times New Roman" panose="02020603050405020304" pitchFamily="18" charset="0"/>
            </a:endParaRPr>
          </a:p>
          <a:p>
            <a:pPr>
              <a:lnSpc>
                <a:spcPct val="150000"/>
              </a:lnSpc>
            </a:pPr>
            <a:r>
              <a:rPr lang="en-GB" sz="1100"/>
              <a:t>Before handling blanks, </a:t>
            </a:r>
            <a:r>
              <a:rPr lang="en-GB" sz="1100" b="1"/>
              <a:t>assess why they exist and their purpose</a:t>
            </a:r>
            <a:r>
              <a:rPr lang="en-GB" sz="1100"/>
              <a:t> in the file. Understanding their context ensures the right approach (replace, remove, or leave).</a:t>
            </a:r>
            <a:br>
              <a:rPr lang="en-GB" sz="1100" b="1"/>
            </a:br>
            <a:r>
              <a:rPr lang="en-GB" sz="1100" b="1"/>
              <a:t>Ways to Handle Blanks</a:t>
            </a:r>
            <a:br>
              <a:rPr lang="en-GB" sz="1100" b="1"/>
            </a:br>
            <a:r>
              <a:rPr lang="en-GB" sz="1100" b="1"/>
              <a:t>1.Identify Blanks</a:t>
            </a:r>
            <a:endParaRPr lang="en-GB" sz="1100"/>
          </a:p>
          <a:p>
            <a:pPr>
              <a:lnSpc>
                <a:spcPct val="150000"/>
              </a:lnSpc>
              <a:buFont typeface="Arial" panose="020B0604020202020204" pitchFamily="34" charset="0"/>
              <a:buChar char="•"/>
            </a:pPr>
            <a:r>
              <a:rPr lang="en-GB" sz="1100"/>
              <a:t>Use </a:t>
            </a:r>
            <a:r>
              <a:rPr lang="en-GB" sz="1100" b="1"/>
              <a:t>Column Quality</a:t>
            </a:r>
            <a:r>
              <a:rPr lang="en-GB" sz="1100"/>
              <a:t> → shows % of valid, error, and empty </a:t>
            </a:r>
            <a:r>
              <a:rPr lang="en-GB" sz="1100" err="1"/>
              <a:t>values.Use</a:t>
            </a:r>
            <a:r>
              <a:rPr lang="en-GB" sz="1100"/>
              <a:t> </a:t>
            </a:r>
            <a:r>
              <a:rPr lang="en-GB" sz="1100" b="1"/>
              <a:t>Column Distribution/Profile</a:t>
            </a:r>
            <a:r>
              <a:rPr lang="en-GB" sz="1100"/>
              <a:t> → check counts and unique values to confirm blanks. Filters can also be used in smaller data sets</a:t>
            </a:r>
            <a:br>
              <a:rPr lang="en-GB" sz="1100"/>
            </a:br>
            <a:r>
              <a:rPr lang="en-GB" sz="1100"/>
              <a:t>2. </a:t>
            </a:r>
            <a:r>
              <a:rPr lang="en-GB" sz="1100" b="1"/>
              <a:t>Handle Blanks</a:t>
            </a:r>
            <a:br>
              <a:rPr lang="en-GB" sz="1100" b="1"/>
            </a:br>
            <a:r>
              <a:rPr lang="en-GB" sz="1100"/>
              <a:t>A. Replace Blanks (Most Common) </a:t>
            </a:r>
            <a:r>
              <a:rPr lang="en-GB" sz="1100" b="1"/>
              <a:t>B. Remove Rows (Use with Caution)</a:t>
            </a:r>
            <a:r>
              <a:rPr lang="en-GB" sz="1100"/>
              <a:t>Filter column → uncheck null/blank → click OK</a:t>
            </a:r>
          </a:p>
          <a:p>
            <a:pPr>
              <a:lnSpc>
                <a:spcPct val="150000"/>
              </a:lnSpc>
              <a:buFont typeface="Arial" panose="020B0604020202020204" pitchFamily="34" charset="0"/>
              <a:buChar char="•"/>
            </a:pPr>
            <a:endParaRPr lang="en-NG" sz="1100" b="1">
              <a:effectLst/>
              <a:latin typeface="Cambria" panose="02040503050406030204" pitchFamily="18" charset="0"/>
              <a:ea typeface="MS Mincho" panose="02020609040205080304" pitchFamily="49" charset="-128"/>
              <a:cs typeface="Times New Roman" panose="02020603050405020304" pitchFamily="18" charset="0"/>
            </a:endParaRPr>
          </a:p>
          <a:p>
            <a:pPr>
              <a:lnSpc>
                <a:spcPct val="150000"/>
              </a:lnSpc>
            </a:pPr>
            <a:endParaRPr lang="en-GB" sz="1100" b="1">
              <a:solidFill>
                <a:srgbClr val="000000"/>
              </a:solidFill>
              <a:effectLst/>
              <a:highlight>
                <a:srgbClr val="FFFF00"/>
              </a:highlight>
              <a:latin typeface="Consolas" panose="020B0609020204030204" pitchFamily="49" charset="0"/>
            </a:endParaRPr>
          </a:p>
          <a:p>
            <a:br>
              <a:rPr lang="en-GB" sz="1200" b="1"/>
            </a:br>
            <a:endParaRPr lang="en-NG" sz="1050" b="1">
              <a:effectLst/>
              <a:latin typeface="Cambria" panose="02040503050406030204" pitchFamily="18" charset="0"/>
              <a:ea typeface="MS Mincho" panose="02020609040205080304" pitchFamily="49" charset="-128"/>
              <a:cs typeface="Times New Roman" panose="02020603050405020304" pitchFamily="18" charset="0"/>
            </a:endParaRPr>
          </a:p>
          <a:p>
            <a:endParaRPr lang="en-NG"/>
          </a:p>
        </p:txBody>
      </p:sp>
    </p:spTree>
    <p:extLst>
      <p:ext uri="{BB962C8B-B14F-4D97-AF65-F5344CB8AC3E}">
        <p14:creationId xmlns:p14="http://schemas.microsoft.com/office/powerpoint/2010/main" val="274556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4" name="TextBox 3">
            <a:extLst>
              <a:ext uri="{FF2B5EF4-FFF2-40B4-BE49-F238E27FC236}">
                <a16:creationId xmlns:a16="http://schemas.microsoft.com/office/drawing/2014/main" id="{F6B3CAF0-644A-4C21-B1C2-C466F87B9990}"/>
              </a:ext>
            </a:extLst>
          </p:cNvPr>
          <p:cNvSpPr txBox="1"/>
          <p:nvPr/>
        </p:nvSpPr>
        <p:spPr>
          <a:xfrm>
            <a:off x="359228" y="250372"/>
            <a:ext cx="8784772" cy="523220"/>
          </a:xfrm>
          <a:prstGeom prst="rect">
            <a:avLst/>
          </a:prstGeom>
          <a:noFill/>
        </p:spPr>
        <p:txBody>
          <a:bodyPr wrap="square" rtlCol="0">
            <a:spAutoFit/>
          </a:bodyPr>
          <a:lstStyle/>
          <a:p>
            <a:r>
              <a:rPr lang="en-US" sz="1400" b="1">
                <a:effectLst/>
                <a:latin typeface="Century Gothic" panose="020B0502020202020204" pitchFamily="34" charset="0"/>
                <a:ea typeface="MS Mincho" panose="02020609040205080304" pitchFamily="49" charset="-128"/>
                <a:cs typeface="Times New Roman" panose="02020603050405020304" pitchFamily="18" charset="0"/>
              </a:rPr>
              <a:t>19.What is the difference between calculated column and measure in Power BI?</a:t>
            </a:r>
            <a:br>
              <a:rPr lang="en-US" sz="1400" b="1">
                <a:effectLst/>
                <a:latin typeface="Century Gothic" panose="020B0502020202020204" pitchFamily="34" charset="0"/>
                <a:ea typeface="MS Mincho" panose="02020609040205080304" pitchFamily="49" charset="-128"/>
                <a:cs typeface="Times New Roman" panose="02020603050405020304" pitchFamily="18" charset="0"/>
              </a:rPr>
            </a:br>
            <a:endParaRPr lang="en-NG" b="1"/>
          </a:p>
        </p:txBody>
      </p:sp>
      <p:graphicFrame>
        <p:nvGraphicFramePr>
          <p:cNvPr id="14" name="Table 13">
            <a:extLst>
              <a:ext uri="{FF2B5EF4-FFF2-40B4-BE49-F238E27FC236}">
                <a16:creationId xmlns:a16="http://schemas.microsoft.com/office/drawing/2014/main" id="{562AC38C-21C0-4E86-8036-36293CC0364C}"/>
              </a:ext>
            </a:extLst>
          </p:cNvPr>
          <p:cNvGraphicFramePr>
            <a:graphicFrameLocks noGrp="1"/>
          </p:cNvGraphicFramePr>
          <p:nvPr>
            <p:extLst>
              <p:ext uri="{D42A27DB-BD31-4B8C-83A1-F6EECF244321}">
                <p14:modId xmlns:p14="http://schemas.microsoft.com/office/powerpoint/2010/main" val="1366958469"/>
              </p:ext>
            </p:extLst>
          </p:nvPr>
        </p:nvGraphicFramePr>
        <p:xfrm>
          <a:off x="359228" y="609237"/>
          <a:ext cx="7718424" cy="1767840"/>
        </p:xfrm>
        <a:graphic>
          <a:graphicData uri="http://schemas.openxmlformats.org/drawingml/2006/table">
            <a:tbl>
              <a:tblPr/>
              <a:tblGrid>
                <a:gridCol w="2572808">
                  <a:extLst>
                    <a:ext uri="{9D8B030D-6E8A-4147-A177-3AD203B41FA5}">
                      <a16:colId xmlns:a16="http://schemas.microsoft.com/office/drawing/2014/main" val="3720878253"/>
                    </a:ext>
                  </a:extLst>
                </a:gridCol>
                <a:gridCol w="2572808">
                  <a:extLst>
                    <a:ext uri="{9D8B030D-6E8A-4147-A177-3AD203B41FA5}">
                      <a16:colId xmlns:a16="http://schemas.microsoft.com/office/drawing/2014/main" val="3551948826"/>
                    </a:ext>
                  </a:extLst>
                </a:gridCol>
                <a:gridCol w="2572808">
                  <a:extLst>
                    <a:ext uri="{9D8B030D-6E8A-4147-A177-3AD203B41FA5}">
                      <a16:colId xmlns:a16="http://schemas.microsoft.com/office/drawing/2014/main" val="1291202940"/>
                    </a:ext>
                  </a:extLst>
                </a:gridCol>
              </a:tblGrid>
              <a:tr h="0">
                <a:tc>
                  <a:txBody>
                    <a:bodyPr/>
                    <a:lstStyle/>
                    <a:p>
                      <a:r>
                        <a:rPr lang="en-GB" b="1"/>
                        <a:t>Feature</a:t>
                      </a:r>
                    </a:p>
                  </a:txBody>
                  <a:tcPr anchor="ctr">
                    <a:lnL>
                      <a:noFill/>
                    </a:lnL>
                    <a:lnR>
                      <a:noFill/>
                    </a:lnR>
                    <a:lnT>
                      <a:noFill/>
                    </a:lnT>
                    <a:lnB>
                      <a:noFill/>
                    </a:lnB>
                  </a:tcPr>
                </a:tc>
                <a:tc>
                  <a:txBody>
                    <a:bodyPr/>
                    <a:lstStyle/>
                    <a:p>
                      <a:r>
                        <a:rPr lang="en-GB" b="1"/>
                        <a:t>Calculated Column</a:t>
                      </a:r>
                    </a:p>
                  </a:txBody>
                  <a:tcPr anchor="ctr">
                    <a:lnL>
                      <a:noFill/>
                    </a:lnL>
                    <a:lnR>
                      <a:noFill/>
                    </a:lnR>
                    <a:lnT>
                      <a:noFill/>
                    </a:lnT>
                    <a:lnB>
                      <a:noFill/>
                    </a:lnB>
                  </a:tcPr>
                </a:tc>
                <a:tc>
                  <a:txBody>
                    <a:bodyPr/>
                    <a:lstStyle/>
                    <a:p>
                      <a:r>
                        <a:rPr lang="en-GB" b="1"/>
                        <a:t>Measure</a:t>
                      </a:r>
                    </a:p>
                  </a:txBody>
                  <a:tcPr anchor="ctr">
                    <a:lnL>
                      <a:noFill/>
                    </a:lnL>
                    <a:lnR>
                      <a:noFill/>
                    </a:lnR>
                    <a:lnT>
                      <a:noFill/>
                    </a:lnT>
                    <a:lnB>
                      <a:noFill/>
                    </a:lnB>
                  </a:tcPr>
                </a:tc>
                <a:extLst>
                  <a:ext uri="{0D108BD9-81ED-4DB2-BD59-A6C34878D82A}">
                    <a16:rowId xmlns:a16="http://schemas.microsoft.com/office/drawing/2014/main" val="597197982"/>
                  </a:ext>
                </a:extLst>
              </a:tr>
              <a:tr h="0">
                <a:tc>
                  <a:txBody>
                    <a:bodyPr/>
                    <a:lstStyle/>
                    <a:p>
                      <a:r>
                        <a:rPr lang="en-GB" b="1"/>
                        <a:t>Calculation Scope</a:t>
                      </a:r>
                      <a:endParaRPr lang="en-GB"/>
                    </a:p>
                  </a:txBody>
                  <a:tcPr anchor="ctr">
                    <a:lnL>
                      <a:noFill/>
                    </a:lnL>
                    <a:lnR>
                      <a:noFill/>
                    </a:lnR>
                    <a:lnT>
                      <a:noFill/>
                    </a:lnT>
                    <a:lnB>
                      <a:noFill/>
                    </a:lnB>
                  </a:tcPr>
                </a:tc>
                <a:tc>
                  <a:txBody>
                    <a:bodyPr/>
                    <a:lstStyle/>
                    <a:p>
                      <a:r>
                        <a:rPr lang="en-GB" sz="1100"/>
                        <a:t>Row by row</a:t>
                      </a:r>
                    </a:p>
                  </a:txBody>
                  <a:tcPr anchor="ctr">
                    <a:lnL>
                      <a:noFill/>
                    </a:lnL>
                    <a:lnR>
                      <a:noFill/>
                    </a:lnR>
                    <a:lnT>
                      <a:noFill/>
                    </a:lnT>
                    <a:lnB>
                      <a:noFill/>
                    </a:lnB>
                  </a:tcPr>
                </a:tc>
                <a:tc>
                  <a:txBody>
                    <a:bodyPr/>
                    <a:lstStyle/>
                    <a:p>
                      <a:r>
                        <a:rPr lang="en-GB" sz="1100"/>
                        <a:t>Aggregate across table/filters</a:t>
                      </a:r>
                    </a:p>
                  </a:txBody>
                  <a:tcPr anchor="ctr">
                    <a:lnL>
                      <a:noFill/>
                    </a:lnL>
                    <a:lnR>
                      <a:noFill/>
                    </a:lnR>
                    <a:lnT>
                      <a:noFill/>
                    </a:lnT>
                    <a:lnB>
                      <a:noFill/>
                    </a:lnB>
                  </a:tcPr>
                </a:tc>
                <a:extLst>
                  <a:ext uri="{0D108BD9-81ED-4DB2-BD59-A6C34878D82A}">
                    <a16:rowId xmlns:a16="http://schemas.microsoft.com/office/drawing/2014/main" val="2626997552"/>
                  </a:ext>
                </a:extLst>
              </a:tr>
              <a:tr h="0">
                <a:tc>
                  <a:txBody>
                    <a:bodyPr/>
                    <a:lstStyle/>
                    <a:p>
                      <a:r>
                        <a:rPr lang="en-GB" b="1"/>
                        <a:t>Storage</a:t>
                      </a:r>
                      <a:endParaRPr lang="en-GB"/>
                    </a:p>
                  </a:txBody>
                  <a:tcPr anchor="ctr">
                    <a:lnL>
                      <a:noFill/>
                    </a:lnL>
                    <a:lnR>
                      <a:noFill/>
                    </a:lnR>
                    <a:lnT>
                      <a:noFill/>
                    </a:lnT>
                    <a:lnB>
                      <a:noFill/>
                    </a:lnB>
                  </a:tcPr>
                </a:tc>
                <a:tc>
                  <a:txBody>
                    <a:bodyPr/>
                    <a:lstStyle/>
                    <a:p>
                      <a:r>
                        <a:rPr lang="en-GB" sz="1100"/>
                        <a:t>Stored in table</a:t>
                      </a:r>
                    </a:p>
                  </a:txBody>
                  <a:tcPr anchor="ctr">
                    <a:lnL>
                      <a:noFill/>
                    </a:lnL>
                    <a:lnR>
                      <a:noFill/>
                    </a:lnR>
                    <a:lnT>
                      <a:noFill/>
                    </a:lnT>
                    <a:lnB>
                      <a:noFill/>
                    </a:lnB>
                  </a:tcPr>
                </a:tc>
                <a:tc>
                  <a:txBody>
                    <a:bodyPr/>
                    <a:lstStyle/>
                    <a:p>
                      <a:r>
                        <a:rPr lang="en-GB" sz="1100"/>
                        <a:t>Calculated dynamically</a:t>
                      </a:r>
                    </a:p>
                  </a:txBody>
                  <a:tcPr anchor="ctr">
                    <a:lnL>
                      <a:noFill/>
                    </a:lnL>
                    <a:lnR>
                      <a:noFill/>
                    </a:lnR>
                    <a:lnT>
                      <a:noFill/>
                    </a:lnT>
                    <a:lnB>
                      <a:noFill/>
                    </a:lnB>
                  </a:tcPr>
                </a:tc>
                <a:extLst>
                  <a:ext uri="{0D108BD9-81ED-4DB2-BD59-A6C34878D82A}">
                    <a16:rowId xmlns:a16="http://schemas.microsoft.com/office/drawing/2014/main" val="666508759"/>
                  </a:ext>
                </a:extLst>
              </a:tr>
              <a:tr h="0">
                <a:tc>
                  <a:txBody>
                    <a:bodyPr/>
                    <a:lstStyle/>
                    <a:p>
                      <a:r>
                        <a:rPr lang="en-GB" b="1"/>
                        <a:t>Use Case</a:t>
                      </a:r>
                      <a:endParaRPr lang="en-GB"/>
                    </a:p>
                  </a:txBody>
                  <a:tcPr anchor="ctr">
                    <a:lnL>
                      <a:noFill/>
                    </a:lnL>
                    <a:lnR>
                      <a:noFill/>
                    </a:lnR>
                    <a:lnT>
                      <a:noFill/>
                    </a:lnT>
                    <a:lnB>
                      <a:noFill/>
                    </a:lnB>
                  </a:tcPr>
                </a:tc>
                <a:tc>
                  <a:txBody>
                    <a:bodyPr/>
                    <a:lstStyle/>
                    <a:p>
                      <a:r>
                        <a:rPr lang="en-GB" sz="1100"/>
                        <a:t>When each row needs a value</a:t>
                      </a:r>
                    </a:p>
                  </a:txBody>
                  <a:tcPr anchor="ctr">
                    <a:lnL>
                      <a:noFill/>
                    </a:lnL>
                    <a:lnR>
                      <a:noFill/>
                    </a:lnR>
                    <a:lnT>
                      <a:noFill/>
                    </a:lnT>
                    <a:lnB>
                      <a:noFill/>
                    </a:lnB>
                  </a:tcPr>
                </a:tc>
                <a:tc>
                  <a:txBody>
                    <a:bodyPr/>
                    <a:lstStyle/>
                    <a:p>
                      <a:r>
                        <a:rPr lang="en-GB" sz="1100"/>
                        <a:t>When summarizing or aggregating data (sum, average, % of total)</a:t>
                      </a:r>
                    </a:p>
                  </a:txBody>
                  <a:tcPr anchor="ctr">
                    <a:lnL>
                      <a:noFill/>
                    </a:lnL>
                    <a:lnR>
                      <a:noFill/>
                    </a:lnR>
                    <a:lnT>
                      <a:noFill/>
                    </a:lnT>
                    <a:lnB>
                      <a:noFill/>
                    </a:lnB>
                  </a:tcPr>
                </a:tc>
                <a:extLst>
                  <a:ext uri="{0D108BD9-81ED-4DB2-BD59-A6C34878D82A}">
                    <a16:rowId xmlns:a16="http://schemas.microsoft.com/office/drawing/2014/main" val="3319971048"/>
                  </a:ext>
                </a:extLst>
              </a:tr>
              <a:tr h="0">
                <a:tc>
                  <a:txBody>
                    <a:bodyPr/>
                    <a:lstStyle/>
                    <a:p>
                      <a:r>
                        <a:rPr lang="en-GB" b="1"/>
                        <a:t>Example</a:t>
                      </a:r>
                      <a:endParaRPr lang="en-GB"/>
                    </a:p>
                  </a:txBody>
                  <a:tcPr anchor="ctr">
                    <a:lnL>
                      <a:noFill/>
                    </a:lnL>
                    <a:lnR>
                      <a:noFill/>
                    </a:lnR>
                    <a:lnT>
                      <a:noFill/>
                    </a:lnT>
                    <a:lnB>
                      <a:noFill/>
                    </a:lnB>
                  </a:tcPr>
                </a:tc>
                <a:tc>
                  <a:txBody>
                    <a:bodyPr/>
                    <a:lstStyle/>
                    <a:p>
                      <a:r>
                        <a:rPr lang="en-GB" sz="1100"/>
                        <a:t>Profit = Sales[Revenue] - Sales[Cost] (row by row)</a:t>
                      </a:r>
                    </a:p>
                  </a:txBody>
                  <a:tcPr anchor="ctr">
                    <a:lnL>
                      <a:noFill/>
                    </a:lnL>
                    <a:lnR>
                      <a:noFill/>
                    </a:lnR>
                    <a:lnT>
                      <a:noFill/>
                    </a:lnT>
                    <a:lnB>
                      <a:noFill/>
                    </a:lnB>
                  </a:tcPr>
                </a:tc>
                <a:tc>
                  <a:txBody>
                    <a:bodyPr/>
                    <a:lstStyle/>
                    <a:p>
                      <a:r>
                        <a:rPr lang="en-GB" sz="1100"/>
                        <a:t>Total Profit = SUM(Sales[Revenue]) - SUM(Sales[Cost])</a:t>
                      </a:r>
                    </a:p>
                  </a:txBody>
                  <a:tcPr anchor="ctr">
                    <a:lnL>
                      <a:noFill/>
                    </a:lnL>
                    <a:lnR>
                      <a:noFill/>
                    </a:lnR>
                    <a:lnT>
                      <a:noFill/>
                    </a:lnT>
                    <a:lnB>
                      <a:noFill/>
                    </a:lnB>
                  </a:tcPr>
                </a:tc>
                <a:extLst>
                  <a:ext uri="{0D108BD9-81ED-4DB2-BD59-A6C34878D82A}">
                    <a16:rowId xmlns:a16="http://schemas.microsoft.com/office/drawing/2014/main" val="3266598011"/>
                  </a:ext>
                </a:extLst>
              </a:tr>
            </a:tbl>
          </a:graphicData>
        </a:graphic>
      </p:graphicFrame>
      <p:sp>
        <p:nvSpPr>
          <p:cNvPr id="15" name="TextBox 14">
            <a:extLst>
              <a:ext uri="{FF2B5EF4-FFF2-40B4-BE49-F238E27FC236}">
                <a16:creationId xmlns:a16="http://schemas.microsoft.com/office/drawing/2014/main" id="{FDCB5543-F71A-4A55-8BB7-AC1735482D1E}"/>
              </a:ext>
            </a:extLst>
          </p:cNvPr>
          <p:cNvSpPr txBox="1"/>
          <p:nvPr/>
        </p:nvSpPr>
        <p:spPr>
          <a:xfrm>
            <a:off x="264816" y="2571750"/>
            <a:ext cx="8367555" cy="132343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100" b="1" i="0" u="none" strike="noStrike" cap="none" normalizeH="0" baseline="0">
                <a:ln>
                  <a:noFill/>
                </a:ln>
                <a:solidFill>
                  <a:schemeClr val="tx1"/>
                </a:solidFill>
                <a:effectLst/>
                <a:latin typeface="Arial" panose="020B0604020202020204" pitchFamily="34" charset="0"/>
              </a:rPr>
              <a:t>Calculated Column:</a:t>
            </a:r>
            <a:r>
              <a:rPr kumimoji="0" lang="en-NG" altLang="en-NG" sz="1100" b="0" i="0" u="none" strike="noStrike" cap="none" normalizeH="0" baseline="0">
                <a:ln>
                  <a:noFill/>
                </a:ln>
                <a:solidFill>
                  <a:schemeClr val="tx1"/>
                </a:solidFill>
                <a:effectLst/>
                <a:latin typeface="Arial" panose="020B0604020202020204" pitchFamily="34" charset="0"/>
              </a:rPr>
              <a:t> A </a:t>
            </a:r>
            <a:r>
              <a:rPr kumimoji="0" lang="en-NG" altLang="en-NG" sz="1100" b="1" i="0" u="none" strike="noStrike" cap="none" normalizeH="0" baseline="0">
                <a:ln>
                  <a:noFill/>
                </a:ln>
                <a:solidFill>
                  <a:schemeClr val="tx1"/>
                </a:solidFill>
                <a:effectLst/>
                <a:latin typeface="Arial" panose="020B0604020202020204" pitchFamily="34" charset="0"/>
              </a:rPr>
              <a:t>new column</a:t>
            </a:r>
            <a:r>
              <a:rPr kumimoji="0" lang="en-NG" altLang="en-NG" sz="1100" b="0" i="0" u="none" strike="noStrike" cap="none" normalizeH="0" baseline="0">
                <a:ln>
                  <a:noFill/>
                </a:ln>
                <a:solidFill>
                  <a:schemeClr val="tx1"/>
                </a:solidFill>
                <a:effectLst/>
                <a:latin typeface="Arial" panose="020B0604020202020204" pitchFamily="34" charset="0"/>
              </a:rPr>
              <a:t> added to a table, calculated row by row. Stored in the data model and visible in all visuals.</a:t>
            </a:r>
          </a:p>
          <a:p>
            <a:pPr eaLnBrk="0" fontAlgn="base" hangingPunct="0">
              <a:spcBef>
                <a:spcPct val="0"/>
              </a:spcBef>
              <a:spcAft>
                <a:spcPct val="0"/>
              </a:spcAft>
              <a:buClrTx/>
              <a:buFontTx/>
              <a:buChar char="•"/>
            </a:pPr>
            <a:r>
              <a:rPr kumimoji="0" lang="en-NG" altLang="en-NG" sz="1100" b="1" i="0" u="none" strike="noStrike" cap="none" normalizeH="0" baseline="0">
                <a:ln>
                  <a:noFill/>
                </a:ln>
                <a:solidFill>
                  <a:schemeClr val="tx1"/>
                </a:solidFill>
                <a:effectLst/>
                <a:latin typeface="Arial" panose="020B0604020202020204" pitchFamily="34" charset="0"/>
              </a:rPr>
              <a:t>Measure:</a:t>
            </a:r>
            <a:r>
              <a:rPr kumimoji="0" lang="en-NG" altLang="en-NG" sz="1100" b="0" i="0" u="none" strike="noStrike" cap="none" normalizeH="0" baseline="0">
                <a:ln>
                  <a:noFill/>
                </a:ln>
                <a:solidFill>
                  <a:schemeClr val="tx1"/>
                </a:solidFill>
                <a:effectLst/>
                <a:latin typeface="Arial" panose="020B0604020202020204" pitchFamily="34" charset="0"/>
              </a:rPr>
              <a:t> A </a:t>
            </a:r>
            <a:r>
              <a:rPr kumimoji="0" lang="en-NG" altLang="en-NG" sz="1100" b="1" i="0" u="none" strike="noStrike" cap="none" normalizeH="0" baseline="0">
                <a:ln>
                  <a:noFill/>
                </a:ln>
                <a:solidFill>
                  <a:schemeClr val="tx1"/>
                </a:solidFill>
                <a:effectLst/>
                <a:latin typeface="Arial" panose="020B0604020202020204" pitchFamily="34" charset="0"/>
              </a:rPr>
              <a:t>dynamic calculation</a:t>
            </a:r>
            <a:r>
              <a:rPr kumimoji="0" lang="en-NG" altLang="en-NG" sz="1100" b="0" i="0" u="none" strike="noStrike" cap="none" normalizeH="0" baseline="0">
                <a:ln>
                  <a:noFill/>
                </a:ln>
                <a:solidFill>
                  <a:schemeClr val="tx1"/>
                </a:solidFill>
                <a:effectLst/>
                <a:latin typeface="Arial" panose="020B0604020202020204" pitchFamily="34" charset="0"/>
              </a:rPr>
              <a:t> performed on the fly, aggregated based on filters in your visuals. Not stored per row.</a:t>
            </a:r>
            <a:br>
              <a:rPr kumimoji="0" lang="en-GB" altLang="en-NG" sz="1100" b="0" i="0" u="none" strike="noStrike" cap="none" normalizeH="0" baseline="0">
                <a:ln>
                  <a:noFill/>
                </a:ln>
                <a:solidFill>
                  <a:schemeClr val="tx1"/>
                </a:solidFill>
                <a:effectLst/>
                <a:latin typeface="Arial" panose="020B0604020202020204" pitchFamily="34" charset="0"/>
              </a:rPr>
            </a:br>
            <a:br>
              <a:rPr kumimoji="0" lang="en-GB" altLang="en-NG" sz="1100" b="0" i="0" u="none" strike="noStrike" cap="none" normalizeH="0" baseline="0">
                <a:ln>
                  <a:noFill/>
                </a:ln>
                <a:solidFill>
                  <a:schemeClr val="tx1"/>
                </a:solidFill>
                <a:effectLst/>
                <a:latin typeface="Arial" panose="020B0604020202020204" pitchFamily="34" charset="0"/>
              </a:rPr>
            </a:br>
            <a:r>
              <a:rPr kumimoji="0" lang="en-GB" altLang="en-NG" sz="1100" b="1" i="0" u="none" strike="noStrike" cap="none" normalizeH="0" baseline="0">
                <a:ln>
                  <a:noFill/>
                </a:ln>
                <a:solidFill>
                  <a:schemeClr val="tx1"/>
                </a:solidFill>
                <a:effectLst/>
                <a:latin typeface="Arial" panose="020B0604020202020204" pitchFamily="34" charset="0"/>
              </a:rPr>
              <a:t>27.</a:t>
            </a:r>
            <a:r>
              <a:rPr lang="en-US" sz="1200" b="1">
                <a:effectLst/>
                <a:latin typeface="Century Gothic" panose="020B0502020202020204" pitchFamily="34" charset="0"/>
                <a:ea typeface="MS Mincho" panose="02020609040205080304" pitchFamily="49" charset="-128"/>
                <a:cs typeface="Times New Roman" panose="02020603050405020304" pitchFamily="18" charset="0"/>
              </a:rPr>
              <a:t>Explain how to optimize a Power BI model when datasets exceed 100,000 rows.</a:t>
            </a:r>
            <a:br>
              <a:rPr lang="en-US" sz="1200" b="1">
                <a:effectLst/>
                <a:latin typeface="Century Gothic" panose="020B0502020202020204" pitchFamily="34" charset="0"/>
                <a:ea typeface="MS Mincho" panose="02020609040205080304" pitchFamily="49" charset="-128"/>
                <a:cs typeface="Times New Roman" panose="02020603050405020304" pitchFamily="18" charset="0"/>
              </a:rPr>
            </a:br>
            <a:br>
              <a:rPr lang="en-US" sz="1200" b="1">
                <a:effectLst/>
                <a:latin typeface="Century Gothic" panose="020B0502020202020204" pitchFamily="34" charset="0"/>
                <a:ea typeface="MS Mincho" panose="02020609040205080304" pitchFamily="49" charset="-128"/>
                <a:cs typeface="Times New Roman" panose="02020603050405020304" pitchFamily="18" charset="0"/>
              </a:rPr>
            </a:br>
            <a:endParaRPr lang="en-NG" sz="1200" b="1">
              <a:effectLst/>
              <a:latin typeface="Cambria" panose="02040503050406030204" pitchFamily="18" charset="0"/>
              <a:ea typeface="MS Mincho" panose="02020609040205080304" pitchFamily="49" charset="-128"/>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NG" altLang="en-NG" sz="1100" b="0" i="0" u="none" strike="noStrike" cap="none" normalizeH="0" baseline="0">
              <a:ln>
                <a:noFill/>
              </a:ln>
              <a:solidFill>
                <a:schemeClr val="tx1"/>
              </a:solidFill>
              <a:effectLst/>
              <a:latin typeface="Arial" panose="020B0604020202020204" pitchFamily="34" charset="0"/>
            </a:endParaRPr>
          </a:p>
        </p:txBody>
      </p:sp>
      <p:sp>
        <p:nvSpPr>
          <p:cNvPr id="20" name="TextBox 19">
            <a:extLst>
              <a:ext uri="{FF2B5EF4-FFF2-40B4-BE49-F238E27FC236}">
                <a16:creationId xmlns:a16="http://schemas.microsoft.com/office/drawing/2014/main" id="{736A25C7-71A5-4E81-B25E-F2F7BB4E1184}"/>
              </a:ext>
            </a:extLst>
          </p:cNvPr>
          <p:cNvSpPr txBox="1"/>
          <p:nvPr/>
        </p:nvSpPr>
        <p:spPr>
          <a:xfrm>
            <a:off x="264817" y="3352800"/>
            <a:ext cx="8824756" cy="692497"/>
          </a:xfrm>
          <a:prstGeom prst="rect">
            <a:avLst/>
          </a:prstGeom>
          <a:noFill/>
        </p:spPr>
        <p:txBody>
          <a:bodyPr wrap="square" rtlCol="0">
            <a:spAutoFit/>
          </a:bodyPr>
          <a:lstStyle/>
          <a:p>
            <a:r>
              <a:rPr lang="en-GB" sz="1100"/>
              <a:t>1. Remove unnecessary columns and rows      2. Use star schema / proper data modelling   3. Set correct data types 4. Use measures instead of calculated columns  5.</a:t>
            </a:r>
            <a:r>
              <a:rPr lang="en-GB"/>
              <a:t> </a:t>
            </a:r>
            <a:r>
              <a:rPr lang="en-GB" sz="1100"/>
              <a:t>Pre-aggregate data for faster visuals 6.</a:t>
            </a:r>
            <a:br>
              <a:rPr lang="en-GB"/>
            </a:br>
            <a:endParaRPr lang="en-NG"/>
          </a:p>
        </p:txBody>
      </p:sp>
    </p:spTree>
    <p:extLst>
      <p:ext uri="{BB962C8B-B14F-4D97-AF65-F5344CB8AC3E}">
        <p14:creationId xmlns:p14="http://schemas.microsoft.com/office/powerpoint/2010/main" val="379058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9" name="Rectangle 1">
            <a:extLst>
              <a:ext uri="{FF2B5EF4-FFF2-40B4-BE49-F238E27FC236}">
                <a16:creationId xmlns:a16="http://schemas.microsoft.com/office/drawing/2014/main" id="{7A45AAF0-4505-45A3-8440-4025F5B4B3AF}"/>
              </a:ext>
            </a:extLst>
          </p:cNvPr>
          <p:cNvSpPr>
            <a:spLocks noChangeArrowheads="1"/>
          </p:cNvSpPr>
          <p:nvPr/>
        </p:nvSpPr>
        <p:spPr bwMode="auto">
          <a:xfrm>
            <a:off x="92529" y="323240"/>
            <a:ext cx="8958942" cy="431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G" altLang="en-NG" sz="1100" b="1" i="0" u="none" strike="noStrike" cap="none" normalizeH="0" baseline="0">
                <a:ln>
                  <a:noFill/>
                </a:ln>
                <a:solidFill>
                  <a:schemeClr val="tx1"/>
                </a:solidFill>
                <a:effectLst/>
                <a:latin typeface="Arial" panose="020B0604020202020204" pitchFamily="34" charset="0"/>
              </a:rPr>
              <a:t> Question 28: What are Hierarchies in Power BI</a:t>
            </a:r>
          </a:p>
          <a:p>
            <a:pPr>
              <a:lnSpc>
                <a:spcPct val="115000"/>
              </a:lnSpc>
              <a:spcAft>
                <a:spcPts val="800"/>
              </a:spcAft>
            </a:pPr>
            <a:r>
              <a:rPr kumimoji="0" lang="en-NG" altLang="en-NG" sz="1100" b="0" i="0" u="none" strike="noStrike" cap="none" normalizeH="0" baseline="0">
                <a:ln>
                  <a:noFill/>
                </a:ln>
                <a:solidFill>
                  <a:schemeClr val="tx1"/>
                </a:solidFill>
                <a:effectLst/>
                <a:latin typeface="Arial" panose="020B0604020202020204" pitchFamily="34" charset="0"/>
              </a:rPr>
              <a:t>Hierarchies in Power BI are </a:t>
            </a:r>
            <a:r>
              <a:rPr kumimoji="0" lang="en-NG" altLang="en-NG" sz="1100" b="1" i="0" u="none" strike="noStrike" cap="none" normalizeH="0" baseline="0">
                <a:ln>
                  <a:noFill/>
                </a:ln>
                <a:solidFill>
                  <a:schemeClr val="tx1"/>
                </a:solidFill>
                <a:effectLst/>
                <a:latin typeface="Arial" panose="020B0604020202020204" pitchFamily="34" charset="0"/>
              </a:rPr>
              <a:t>structured levels of data within a table</a:t>
            </a:r>
            <a:r>
              <a:rPr kumimoji="0" lang="en-NG" altLang="en-NG" sz="1100" b="0" i="0" u="none" strike="noStrike" cap="none" normalizeH="0" baseline="0">
                <a:ln>
                  <a:noFill/>
                </a:ln>
                <a:solidFill>
                  <a:schemeClr val="tx1"/>
                </a:solidFill>
                <a:effectLst/>
                <a:latin typeface="Arial" panose="020B0604020202020204" pitchFamily="34" charset="0"/>
              </a:rPr>
              <a:t> that allow you to drill down or drill up in visuals for more detailed analysis. They group related fields together to simplify reporting and make navigation intuitive. For example, a hierarchy like </a:t>
            </a:r>
            <a:r>
              <a:rPr kumimoji="0" lang="en-NG" altLang="en-NG" sz="1100" b="0" i="0" u="none" strike="noStrike" cap="none" normalizeH="0" baseline="0">
                <a:ln>
                  <a:noFill/>
                </a:ln>
                <a:solidFill>
                  <a:schemeClr val="tx1"/>
                </a:solidFill>
                <a:effectLst/>
                <a:latin typeface="Arial Unicode MS"/>
              </a:rPr>
              <a:t>Country → State → City</a:t>
            </a:r>
            <a:r>
              <a:rPr kumimoji="0" lang="en-NG" altLang="en-NG" sz="1100" b="0" i="0" u="none" strike="noStrike" cap="none" normalizeH="0" baseline="0">
                <a:ln>
                  <a:noFill/>
                </a:ln>
                <a:solidFill>
                  <a:schemeClr val="tx1"/>
                </a:solidFill>
                <a:effectLst/>
              </a:rPr>
              <a:t> lets you explore regional sales from a high-level overview down to individual cities.</a:t>
            </a:r>
            <a:br>
              <a:rPr kumimoji="0" lang="en-GB" altLang="en-NG" sz="1100" b="0" i="0" u="none" strike="noStrike" cap="none" normalizeH="0" baseline="0">
                <a:ln>
                  <a:noFill/>
                </a:ln>
                <a:solidFill>
                  <a:schemeClr val="tx1"/>
                </a:solidFill>
                <a:effectLst/>
              </a:rPr>
            </a:br>
            <a:br>
              <a:rPr kumimoji="0" lang="en-GB" altLang="en-NG" sz="1100" b="0" i="0" u="none" strike="noStrike" cap="none" normalizeH="0" baseline="0">
                <a:ln>
                  <a:noFill/>
                </a:ln>
                <a:solidFill>
                  <a:schemeClr val="tx1"/>
                </a:solidFill>
                <a:effectLst/>
              </a:rPr>
            </a:br>
            <a:r>
              <a:rPr lang="en-US" sz="1100" b="1" kern="100" err="1">
                <a:effectLst/>
                <a:latin typeface="+mn-lt"/>
                <a:ea typeface="Calibri" panose="020F0502020204030204" pitchFamily="34" charset="0"/>
                <a:cs typeface="Times New Roman" panose="02020603050405020304" pitchFamily="18" charset="0"/>
              </a:rPr>
              <a:t>Qn</a:t>
            </a:r>
            <a:r>
              <a:rPr lang="en-US" sz="1100" b="1" kern="100">
                <a:effectLst/>
                <a:latin typeface="+mn-lt"/>
                <a:ea typeface="Calibri" panose="020F0502020204030204" pitchFamily="34" charset="0"/>
                <a:cs typeface="Times New Roman" panose="02020603050405020304" pitchFamily="18" charset="0"/>
              </a:rPr>
              <a:t> 32</a:t>
            </a:r>
            <a:endParaRPr lang="en-NG" sz="1100" kern="100">
              <a:effectLst/>
              <a:latin typeface="+mn-lt"/>
              <a:ea typeface="Calibri" panose="020F0502020204030204" pitchFamily="34" charset="0"/>
              <a:cs typeface="Times New Roman" panose="02020603050405020304" pitchFamily="18" charset="0"/>
            </a:endParaRPr>
          </a:p>
          <a:p>
            <a:pPr>
              <a:lnSpc>
                <a:spcPct val="115000"/>
              </a:lnSpc>
              <a:spcAft>
                <a:spcPts val="800"/>
              </a:spcAft>
            </a:pPr>
            <a:r>
              <a:rPr lang="en-US" sz="1100" b="1" kern="100">
                <a:effectLst/>
                <a:latin typeface="+mn-lt"/>
                <a:ea typeface="Calibri" panose="020F0502020204030204" pitchFamily="34" charset="0"/>
                <a:cs typeface="Times New Roman" panose="02020603050405020304" pitchFamily="18" charset="0"/>
              </a:rPr>
              <a:t>Create DAX measure to identify repeated unpaid customers.</a:t>
            </a:r>
            <a:endParaRPr lang="en-NG" sz="1100" kern="100">
              <a:effectLst/>
              <a:latin typeface="+mn-lt"/>
              <a:ea typeface="Calibri" panose="020F0502020204030204" pitchFamily="34" charset="0"/>
              <a:cs typeface="Times New Roman" panose="02020603050405020304" pitchFamily="18" charset="0"/>
            </a:endParaRPr>
          </a:p>
          <a:p>
            <a:pPr>
              <a:lnSpc>
                <a:spcPct val="115000"/>
              </a:lnSpc>
              <a:spcAft>
                <a:spcPts val="800"/>
              </a:spcAft>
            </a:pPr>
            <a:r>
              <a:rPr lang="en-US" sz="1100" kern="100" err="1">
                <a:effectLst/>
                <a:latin typeface="+mn-lt"/>
                <a:ea typeface="Calibri" panose="020F0502020204030204" pitchFamily="34" charset="0"/>
                <a:cs typeface="Times New Roman" panose="02020603050405020304" pitchFamily="18" charset="0"/>
              </a:rPr>
              <a:t>Repeated_Flag</a:t>
            </a:r>
            <a:r>
              <a:rPr lang="en-US" sz="1100" kern="100">
                <a:effectLst/>
                <a:latin typeface="+mn-lt"/>
                <a:ea typeface="Calibri" panose="020F0502020204030204" pitchFamily="34" charset="0"/>
                <a:cs typeface="Times New Roman" panose="02020603050405020304" pitchFamily="18" charset="0"/>
              </a:rPr>
              <a:t> =IF(CALCULATE(COUNTROWS('</a:t>
            </a:r>
            <a:r>
              <a:rPr lang="en-US" sz="1100" kern="100" err="1">
                <a:effectLst/>
                <a:latin typeface="+mn-lt"/>
                <a:ea typeface="Calibri" panose="020F0502020204030204" pitchFamily="34" charset="0"/>
                <a:cs typeface="Times New Roman" panose="02020603050405020304" pitchFamily="18" charset="0"/>
              </a:rPr>
              <a:t>Billing_Payment</a:t>
            </a:r>
            <a:r>
              <a:rPr lang="en-US" sz="1100" kern="100">
                <a:effectLst/>
                <a:latin typeface="+mn-lt"/>
                <a:ea typeface="Calibri" panose="020F0502020204030204" pitchFamily="34" charset="0"/>
                <a:cs typeface="Times New Roman" panose="02020603050405020304" pitchFamily="18" charset="0"/>
              </a:rPr>
              <a:t>'), '</a:t>
            </a:r>
            <a:r>
              <a:rPr lang="en-US" sz="1100" kern="100" err="1">
                <a:effectLst/>
                <a:latin typeface="+mn-lt"/>
                <a:ea typeface="Calibri" panose="020F0502020204030204" pitchFamily="34" charset="0"/>
                <a:cs typeface="Times New Roman" panose="02020603050405020304" pitchFamily="18" charset="0"/>
              </a:rPr>
              <a:t>Billing_Payment</a:t>
            </a:r>
            <a:r>
              <a:rPr lang="en-US" sz="1100" kern="100">
                <a:effectLst/>
                <a:latin typeface="+mn-lt"/>
                <a:ea typeface="Calibri" panose="020F0502020204030204" pitchFamily="34" charset="0"/>
                <a:cs typeface="Times New Roman" panose="02020603050405020304" pitchFamily="18" charset="0"/>
              </a:rPr>
              <a:t>'[</a:t>
            </a:r>
            <a:r>
              <a:rPr lang="en-US" sz="1100" kern="100" err="1">
                <a:effectLst/>
                <a:latin typeface="+mn-lt"/>
                <a:ea typeface="Calibri" panose="020F0502020204030204" pitchFamily="34" charset="0"/>
                <a:cs typeface="Times New Roman" panose="02020603050405020304" pitchFamily="18" charset="0"/>
              </a:rPr>
              <a:t>Payment_Status</a:t>
            </a:r>
            <a:r>
              <a:rPr lang="en-US" sz="1100" kern="100">
                <a:effectLst/>
                <a:latin typeface="+mn-lt"/>
                <a:ea typeface="Calibri" panose="020F0502020204030204" pitchFamily="34" charset="0"/>
                <a:cs typeface="Times New Roman" panose="02020603050405020304" pitchFamily="18" charset="0"/>
              </a:rPr>
              <a:t>] = "Unpaid  ) &gt; 1, "Repeated Unpaid",  "OK")</a:t>
            </a:r>
            <a:br>
              <a:rPr lang="en-US" sz="1100" kern="100">
                <a:effectLst/>
                <a:latin typeface="+mn-lt"/>
                <a:ea typeface="Calibri" panose="020F0502020204030204" pitchFamily="34" charset="0"/>
                <a:cs typeface="Times New Roman" panose="02020603050405020304" pitchFamily="18" charset="0"/>
              </a:rPr>
            </a:br>
            <a:r>
              <a:rPr lang="en-US" sz="1100" b="1" kern="100">
                <a:effectLst/>
                <a:latin typeface="+mn-lt"/>
                <a:ea typeface="Calibri" panose="020F0502020204030204" pitchFamily="34" charset="0"/>
                <a:cs typeface="Times New Roman" panose="02020603050405020304" pitchFamily="18" charset="0"/>
              </a:rPr>
              <a:t>Add the PowerApps visual</a:t>
            </a:r>
            <a:endParaRPr lang="en-NG" sz="1100" kern="100">
              <a:effectLst/>
              <a:latin typeface="+mn-lt"/>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100" kern="100">
                <a:effectLst/>
                <a:latin typeface="+mn-lt"/>
                <a:ea typeface="Calibri" panose="020F0502020204030204" pitchFamily="34" charset="0"/>
                <a:cs typeface="Times New Roman" panose="02020603050405020304" pitchFamily="18" charset="0"/>
              </a:rPr>
              <a:t>From the </a:t>
            </a:r>
            <a:r>
              <a:rPr lang="en-US" sz="1100" b="1" kern="100">
                <a:effectLst/>
                <a:latin typeface="+mn-lt"/>
                <a:ea typeface="Calibri" panose="020F0502020204030204" pitchFamily="34" charset="0"/>
                <a:cs typeface="Times New Roman" panose="02020603050405020304" pitchFamily="18" charset="0"/>
              </a:rPr>
              <a:t>Visualizations pane</a:t>
            </a:r>
            <a:r>
              <a:rPr lang="en-US" sz="1100" kern="100">
                <a:effectLst/>
                <a:latin typeface="+mn-lt"/>
                <a:ea typeface="Calibri" panose="020F0502020204030204" pitchFamily="34" charset="0"/>
                <a:cs typeface="Times New Roman" panose="02020603050405020304" pitchFamily="18" charset="0"/>
              </a:rPr>
              <a:t>, click the </a:t>
            </a:r>
            <a:r>
              <a:rPr lang="en-US" sz="1100" b="1" kern="100">
                <a:effectLst/>
                <a:latin typeface="+mn-lt"/>
                <a:ea typeface="Calibri" panose="020F0502020204030204" pitchFamily="34" charset="0"/>
                <a:cs typeface="Times New Roman" panose="02020603050405020304" pitchFamily="18" charset="0"/>
              </a:rPr>
              <a:t>PowerApps visual</a:t>
            </a:r>
            <a:r>
              <a:rPr lang="en-US" sz="1100" kern="100">
                <a:effectLst/>
                <a:latin typeface="+mn-lt"/>
                <a:ea typeface="Calibri" panose="020F0502020204030204" pitchFamily="34" charset="0"/>
                <a:cs typeface="Times New Roman" panose="02020603050405020304" pitchFamily="18" charset="0"/>
              </a:rPr>
              <a:t> icon </a:t>
            </a:r>
            <a:endParaRPr lang="en-NG" sz="1100" kern="100">
              <a:effectLst/>
              <a:latin typeface="+mn-lt"/>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100" kern="100">
                <a:effectLst/>
                <a:latin typeface="+mn-lt"/>
                <a:ea typeface="Calibri" panose="020F0502020204030204" pitchFamily="34" charset="0"/>
                <a:cs typeface="Times New Roman" panose="02020603050405020304" pitchFamily="18" charset="0"/>
              </a:rPr>
              <a:t>Drag the PowerApps visual onto your report canvas.</a:t>
            </a:r>
            <a:endParaRPr lang="en-NG" sz="1100" kern="100">
              <a:effectLst/>
              <a:latin typeface="+mn-lt"/>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100" kern="100">
                <a:effectLst/>
                <a:latin typeface="+mn-lt"/>
                <a:ea typeface="Calibri" panose="020F0502020204030204" pitchFamily="34" charset="0"/>
                <a:cs typeface="Times New Roman" panose="02020603050405020304" pitchFamily="18" charset="0"/>
              </a:rPr>
              <a:t>Drag the following </a:t>
            </a:r>
            <a:r>
              <a:rPr lang="en-US" sz="1100" kern="100" err="1">
                <a:effectLst/>
                <a:latin typeface="+mn-lt"/>
                <a:ea typeface="Calibri" panose="020F0502020204030204" pitchFamily="34" charset="0"/>
                <a:cs typeface="Times New Roman" panose="02020603050405020304" pitchFamily="18" charset="0"/>
              </a:rPr>
              <a:t>CustomerID</a:t>
            </a:r>
            <a:r>
              <a:rPr lang="en-US" sz="1100" kern="100">
                <a:effectLst/>
                <a:latin typeface="+mn-lt"/>
                <a:ea typeface="Calibri" panose="020F0502020204030204" pitchFamily="34" charset="0"/>
                <a:cs typeface="Times New Roman" panose="02020603050405020304" pitchFamily="18" charset="0"/>
              </a:rPr>
              <a:t> and </a:t>
            </a:r>
            <a:r>
              <a:rPr lang="en-US" sz="1100" kern="100" err="1">
                <a:effectLst/>
                <a:latin typeface="+mn-lt"/>
                <a:ea typeface="Calibri" panose="020F0502020204030204" pitchFamily="34" charset="0"/>
                <a:cs typeface="Times New Roman" panose="02020603050405020304" pitchFamily="18" charset="0"/>
              </a:rPr>
              <a:t>Repeated_Flag</a:t>
            </a:r>
            <a:r>
              <a:rPr lang="en-US" sz="1100" kern="100">
                <a:effectLst/>
                <a:latin typeface="+mn-lt"/>
                <a:ea typeface="Calibri" panose="020F0502020204030204" pitchFamily="34" charset="0"/>
                <a:cs typeface="Times New Roman" panose="02020603050405020304" pitchFamily="18" charset="0"/>
              </a:rPr>
              <a:t> into the PowerApps visual data fields section</a:t>
            </a:r>
            <a:endParaRPr lang="en-NG" sz="1100" kern="100">
              <a:effectLst/>
              <a:latin typeface="+mn-lt"/>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100" kern="0">
                <a:effectLst/>
                <a:latin typeface="+mn-lt"/>
                <a:ea typeface="Times New Roman" panose="02020603050405020304" pitchFamily="18" charset="0"/>
                <a:cs typeface="Times New Roman" panose="02020603050405020304" pitchFamily="18" charset="0"/>
              </a:rPr>
              <a:t>Build PowerApps app to display customers and flag button.</a:t>
            </a:r>
            <a:endParaRPr lang="en-NG" sz="1100" kern="100">
              <a:effectLst/>
              <a:latin typeface="+mn-lt"/>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100" kern="0">
                <a:effectLst/>
                <a:latin typeface="+mn-lt"/>
                <a:ea typeface="Times New Roman" panose="02020603050405020304" pitchFamily="18" charset="0"/>
                <a:cs typeface="Times New Roman" panose="02020603050405020304" pitchFamily="18" charset="0"/>
              </a:rPr>
              <a:t>Use PowerApps to save flags to data source.</a:t>
            </a:r>
            <a:endParaRPr lang="en-NG" sz="1100" kern="100">
              <a:effectLst/>
              <a:latin typeface="+mn-lt"/>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100" kern="0">
                <a:effectLst/>
                <a:latin typeface="+mn-lt"/>
                <a:ea typeface="Times New Roman" panose="02020603050405020304" pitchFamily="18" charset="0"/>
                <a:cs typeface="Times New Roman" panose="02020603050405020304" pitchFamily="18" charset="0"/>
              </a:rPr>
              <a:t>Publish app and refresh Power BI to show updates.</a:t>
            </a:r>
            <a:endParaRPr lang="en-NG" sz="1100" kern="100">
              <a:effectLst/>
              <a:latin typeface="+mn-lt"/>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NG" altLang="en-NG" sz="105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9" name="Rectangle 1">
            <a:extLst>
              <a:ext uri="{FF2B5EF4-FFF2-40B4-BE49-F238E27FC236}">
                <a16:creationId xmlns:a16="http://schemas.microsoft.com/office/drawing/2014/main" id="{7A45AAF0-4505-45A3-8440-4025F5B4B3AF}"/>
              </a:ext>
            </a:extLst>
          </p:cNvPr>
          <p:cNvSpPr>
            <a:spLocks noChangeArrowheads="1"/>
          </p:cNvSpPr>
          <p:nvPr/>
        </p:nvSpPr>
        <p:spPr bwMode="auto">
          <a:xfrm>
            <a:off x="92529" y="924627"/>
            <a:ext cx="8958942" cy="339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br>
              <a:rPr lang="en-GB" sz="1200" b="1"/>
            </a:br>
            <a:br>
              <a:rPr lang="en-GB" sz="1200" b="1"/>
            </a:br>
            <a:r>
              <a:rPr lang="en-GB" sz="1200" b="1"/>
              <a:t>31.</a:t>
            </a:r>
            <a:r>
              <a:rPr lang="en-US" sz="1100" b="1">
                <a:effectLst/>
                <a:latin typeface="Century Gothic"/>
                <a:ea typeface="MS Mincho"/>
                <a:cs typeface="Times New Roman"/>
              </a:rPr>
              <a:t>Implement an incremental refresh policy for the datasets (explain step-by-step).</a:t>
            </a:r>
            <a:endParaRPr lang="en-NG" sz="1100" b="1">
              <a:effectLst/>
              <a:latin typeface="Century Gothic"/>
              <a:ea typeface="MS Mincho"/>
              <a:cs typeface="Times New Roman"/>
            </a:endParaRPr>
          </a:p>
          <a:p>
            <a:r>
              <a:rPr lang="en-GB" sz="1200" b="1"/>
              <a:t>Add filter to date column: </a:t>
            </a:r>
            <a:endParaRPr lang="en-GB" sz="1200"/>
          </a:p>
          <a:p>
            <a:r>
              <a:rPr lang="en-GB" sz="1200"/>
              <a:t>Then go to the table you want's date column and on the drop down to the left of the column name click and pick custom date filter &gt; then make the rules "is after or equal" </a:t>
            </a:r>
            <a:r>
              <a:rPr lang="en-GB" sz="1200" err="1"/>
              <a:t>RangeStart</a:t>
            </a:r>
            <a:r>
              <a:rPr lang="en-GB" sz="1200"/>
              <a:t> and "is before" </a:t>
            </a:r>
            <a:r>
              <a:rPr lang="en-GB" sz="1200" err="1"/>
              <a:t>RangeEnd</a:t>
            </a:r>
            <a:r>
              <a:rPr lang="en-GB" sz="1200"/>
              <a:t>" and apply &gt; apply &amp; close</a:t>
            </a:r>
          </a:p>
          <a:p>
            <a:endParaRPr lang="en-GB" sz="1200"/>
          </a:p>
          <a:p>
            <a:r>
              <a:rPr lang="en-GB" sz="1200" b="1">
                <a:effectLst/>
              </a:rPr>
              <a:t>Define the Incremental Refresh Policy</a:t>
            </a:r>
          </a:p>
          <a:p>
            <a:r>
              <a:rPr lang="en-GB" sz="1200">
                <a:effectLst/>
              </a:rPr>
              <a:t>Now that the filtering mechanism is in place, you will define the refresh rules in Power BI Desktop.</a:t>
            </a:r>
            <a:endParaRPr lang="en-GB" sz="1200"/>
          </a:p>
          <a:p>
            <a:r>
              <a:rPr lang="en-GB" sz="1200">
                <a:effectLst/>
              </a:rPr>
              <a:t>Go to the Model or Data View &gt; Right-click the Table you just configured in the Fields pane &gt; select Incremental refresh. &gt; Toggle on &gt; Archive data starting: This is your "cold storage</a:t>
            </a:r>
            <a:r>
              <a:rPr lang="en-GB" sz="1200"/>
              <a:t>" - </a:t>
            </a:r>
            <a:r>
              <a:rPr lang="en-GB" sz="1200">
                <a:effectLst/>
              </a:rPr>
              <a:t>the total amount of historical data you want to keep. A typical setting might be 5 Years.</a:t>
            </a:r>
            <a:endParaRPr lang="en-GB" sz="1200"/>
          </a:p>
          <a:p>
            <a:r>
              <a:rPr lang="en-GB" sz="1200">
                <a:effectLst/>
              </a:rPr>
              <a:t>Incrementally refresh data starting: This is your "hot window</a:t>
            </a:r>
            <a:r>
              <a:rPr lang="en-GB" sz="1200"/>
              <a:t>" - </a:t>
            </a:r>
            <a:r>
              <a:rPr lang="en-GB" sz="1200">
                <a:effectLst/>
              </a:rPr>
              <a:t>the period that gets refreshed every time. This is the key to making your refreshes fast. A typical setting </a:t>
            </a:r>
            <a:r>
              <a:rPr lang="en-GB" sz="1200"/>
              <a:t>might</a:t>
            </a:r>
            <a:r>
              <a:rPr lang="en-GB" sz="1200">
                <a:effectLst/>
              </a:rPr>
              <a:t> be 7 or 10 Days.</a:t>
            </a:r>
            <a:endParaRPr lang="en-GB" sz="1200"/>
          </a:p>
          <a:p>
            <a:r>
              <a:rPr lang="en-GB" sz="1200">
                <a:effectLst/>
              </a:rPr>
              <a:t>Click Apply.</a:t>
            </a:r>
            <a:r>
              <a:rPr lang="en-GB" sz="1200"/>
              <a:t>  </a:t>
            </a:r>
          </a:p>
          <a:p>
            <a:pPr marL="0" marR="0" lvl="0" indent="0" algn="l" defTabSz="914400">
              <a:lnSpc>
                <a:spcPct val="100000"/>
              </a:lnSpc>
              <a:buSzTx/>
              <a:buFont typeface="Arial"/>
              <a:buNone/>
              <a:tabLst/>
            </a:pPr>
            <a:endParaRPr lang="en-GB" sz="1200" b="0" i="0" u="none" strike="noStrike" cap="none" normalizeH="0" baseline="0">
              <a:ln>
                <a:noFill/>
              </a:ln>
              <a:effectLst/>
              <a:latin typeface="Arial" panose="020B0604020202020204" pitchFamily="34" charset="0"/>
            </a:endParaRPr>
          </a:p>
          <a:p>
            <a:endParaRPr lang="en-GB" sz="1200">
              <a:latin typeface="Arial" panose="020B0604020202020204" pitchFamily="34" charset="0"/>
            </a:endParaRPr>
          </a:p>
          <a:p>
            <a:pPr eaLnBrk="0" fontAlgn="base" hangingPunct="0">
              <a:spcBef>
                <a:spcPct val="0"/>
              </a:spcBef>
              <a:spcAft>
                <a:spcPct val="0"/>
              </a:spcAft>
              <a:buClrTx/>
            </a:pPr>
            <a:endParaRPr lang="en-NG" altLang="en-NG" sz="1050">
              <a:solidFill>
                <a:srgbClr val="363633"/>
              </a:solidFill>
              <a:latin typeface="Arial" panose="020B0604020202020204" pitchFamily="34" charset="0"/>
            </a:endParaRPr>
          </a:p>
        </p:txBody>
      </p:sp>
    </p:spTree>
    <p:extLst>
      <p:ext uri="{BB962C8B-B14F-4D97-AF65-F5344CB8AC3E}">
        <p14:creationId xmlns:p14="http://schemas.microsoft.com/office/powerpoint/2010/main" val="427999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p:nvPr/>
        </p:nvSpPr>
        <p:spPr>
          <a:xfrm>
            <a:off x="160200" y="185057"/>
            <a:ext cx="8823600" cy="4855029"/>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aphicFrame>
        <p:nvGraphicFramePr>
          <p:cNvPr id="4" name="Table 3">
            <a:extLst>
              <a:ext uri="{FF2B5EF4-FFF2-40B4-BE49-F238E27FC236}">
                <a16:creationId xmlns:a16="http://schemas.microsoft.com/office/drawing/2014/main" id="{0C0F95FD-AD65-4120-8D3A-0D1E610CA0D0}"/>
              </a:ext>
            </a:extLst>
          </p:cNvPr>
          <p:cNvGraphicFramePr>
            <a:graphicFrameLocks noGrp="1"/>
          </p:cNvGraphicFramePr>
          <p:nvPr>
            <p:extLst>
              <p:ext uri="{D42A27DB-BD31-4B8C-83A1-F6EECF244321}">
                <p14:modId xmlns:p14="http://schemas.microsoft.com/office/powerpoint/2010/main" val="4084713756"/>
              </p:ext>
            </p:extLst>
          </p:nvPr>
        </p:nvGraphicFramePr>
        <p:xfrm>
          <a:off x="859972" y="1306285"/>
          <a:ext cx="7704000" cy="588337"/>
        </p:xfrm>
        <a:graphic>
          <a:graphicData uri="http://schemas.openxmlformats.org/drawingml/2006/table">
            <a:tbl>
              <a:tblPr/>
              <a:tblGrid>
                <a:gridCol w="2568000">
                  <a:extLst>
                    <a:ext uri="{9D8B030D-6E8A-4147-A177-3AD203B41FA5}">
                      <a16:colId xmlns:a16="http://schemas.microsoft.com/office/drawing/2014/main" val="4040686356"/>
                    </a:ext>
                  </a:extLst>
                </a:gridCol>
                <a:gridCol w="2568000">
                  <a:extLst>
                    <a:ext uri="{9D8B030D-6E8A-4147-A177-3AD203B41FA5}">
                      <a16:colId xmlns:a16="http://schemas.microsoft.com/office/drawing/2014/main" val="3845146046"/>
                    </a:ext>
                  </a:extLst>
                </a:gridCol>
                <a:gridCol w="2568000">
                  <a:extLst>
                    <a:ext uri="{9D8B030D-6E8A-4147-A177-3AD203B41FA5}">
                      <a16:colId xmlns:a16="http://schemas.microsoft.com/office/drawing/2014/main" val="3770243105"/>
                    </a:ext>
                  </a:extLst>
                </a:gridCol>
              </a:tblGrid>
              <a:tr h="588337">
                <a:tc>
                  <a:txBody>
                    <a:bodyPr/>
                    <a:lstStyle/>
                    <a:p>
                      <a:endParaRPr lang="en-GB" sz="1200"/>
                    </a:p>
                  </a:txBody>
                  <a:tcPr marL="77059" marR="77059" marT="38530" marB="38530" anchor="ctr">
                    <a:lnL>
                      <a:noFill/>
                    </a:lnL>
                    <a:lnR>
                      <a:noFill/>
                    </a:lnR>
                    <a:lnT>
                      <a:noFill/>
                    </a:lnT>
                    <a:lnB>
                      <a:noFill/>
                    </a:lnB>
                  </a:tcPr>
                </a:tc>
                <a:tc>
                  <a:txBody>
                    <a:bodyPr/>
                    <a:lstStyle/>
                    <a:p>
                      <a:endParaRPr lang="en-GB" sz="1200"/>
                    </a:p>
                  </a:txBody>
                  <a:tcPr marL="77059" marR="77059" marT="38530" marB="38530" anchor="ctr">
                    <a:lnL>
                      <a:noFill/>
                    </a:lnL>
                    <a:lnR>
                      <a:noFill/>
                    </a:lnR>
                    <a:lnT>
                      <a:noFill/>
                    </a:lnT>
                    <a:lnB>
                      <a:noFill/>
                    </a:lnB>
                  </a:tcPr>
                </a:tc>
                <a:tc>
                  <a:txBody>
                    <a:bodyPr/>
                    <a:lstStyle/>
                    <a:p>
                      <a:endParaRPr lang="en-GB" sz="1200"/>
                    </a:p>
                  </a:txBody>
                  <a:tcPr marL="77059" marR="77059" marT="38530" marB="38530" anchor="ctr">
                    <a:lnL>
                      <a:noFill/>
                    </a:lnL>
                    <a:lnR>
                      <a:noFill/>
                    </a:lnR>
                    <a:lnT>
                      <a:noFill/>
                    </a:lnT>
                    <a:lnB>
                      <a:noFill/>
                    </a:lnB>
                  </a:tcPr>
                </a:tc>
                <a:extLst>
                  <a:ext uri="{0D108BD9-81ED-4DB2-BD59-A6C34878D82A}">
                    <a16:rowId xmlns:a16="http://schemas.microsoft.com/office/drawing/2014/main" val="2120941159"/>
                  </a:ext>
                </a:extLst>
              </a:tr>
            </a:tbl>
          </a:graphicData>
        </a:graphic>
      </p:graphicFrame>
      <p:sp>
        <p:nvSpPr>
          <p:cNvPr id="2" name="TextBox 1">
            <a:extLst>
              <a:ext uri="{FF2B5EF4-FFF2-40B4-BE49-F238E27FC236}">
                <a16:creationId xmlns:a16="http://schemas.microsoft.com/office/drawing/2014/main" id="{57A61D74-E096-480C-87BA-A1CD5EBC50BB}"/>
              </a:ext>
            </a:extLst>
          </p:cNvPr>
          <p:cNvSpPr txBox="1"/>
          <p:nvPr/>
        </p:nvSpPr>
        <p:spPr>
          <a:xfrm>
            <a:off x="223157" y="-97971"/>
            <a:ext cx="8697686" cy="5596404"/>
          </a:xfrm>
          <a:prstGeom prst="rect">
            <a:avLst/>
          </a:prstGeom>
          <a:noFill/>
        </p:spPr>
        <p:txBody>
          <a:bodyPr wrap="square" rtlCol="0">
            <a:spAutoFit/>
          </a:bodyPr>
          <a:lstStyle/>
          <a:p>
            <a:pPr>
              <a:spcAft>
                <a:spcPts val="800"/>
              </a:spcAft>
            </a:pPr>
            <a:r>
              <a:rPr lang="en-US" sz="1050" b="1" kern="100" err="1">
                <a:effectLst/>
                <a:latin typeface="Times New Roman" panose="02020603050405020304" pitchFamily="18" charset="0"/>
                <a:ea typeface="Calibri" panose="020F0502020204030204" pitchFamily="34" charset="0"/>
              </a:rPr>
              <a:t>Qn</a:t>
            </a:r>
            <a:r>
              <a:rPr lang="en-US" sz="1050" b="1" kern="100">
                <a:effectLst/>
                <a:latin typeface="Times New Roman" panose="02020603050405020304" pitchFamily="18" charset="0"/>
                <a:ea typeface="Calibri" panose="020F0502020204030204" pitchFamily="34" charset="0"/>
              </a:rPr>
              <a:t> 33</a:t>
            </a:r>
            <a:br>
              <a:rPr lang="en-US" sz="1050" b="1" kern="100">
                <a:effectLst/>
                <a:latin typeface="Times New Roman" panose="02020603050405020304" pitchFamily="18" charset="0"/>
                <a:ea typeface="Calibri" panose="020F0502020204030204" pitchFamily="34" charset="0"/>
              </a:rPr>
            </a:br>
            <a:r>
              <a:rPr lang="en-US" sz="1050" b="1" kern="0">
                <a:effectLst/>
                <a:latin typeface="Times New Roman" panose="02020603050405020304" pitchFamily="18" charset="0"/>
                <a:ea typeface="Times New Roman" panose="02020603050405020304" pitchFamily="18" charset="0"/>
              </a:rPr>
              <a:t>Install On-premises Data Gateway</a:t>
            </a:r>
            <a:endParaRPr lang="en-NG" sz="1050" kern="100">
              <a:effectLst/>
              <a:latin typeface="Times New Roman" panose="02020603050405020304" pitchFamily="18" charset="0"/>
              <a:ea typeface="Calibri" panose="020F0502020204030204" pitchFamily="34"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Download and install the Power BI On-premises Data Gateway on a server or PC that has access to the shared drive.</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050" b="1" kern="0">
                <a:effectLst/>
                <a:latin typeface="Times New Roman" panose="02020603050405020304" pitchFamily="18" charset="0"/>
                <a:ea typeface="Times New Roman" panose="02020603050405020304" pitchFamily="18" charset="0"/>
                <a:cs typeface="Times New Roman" panose="02020603050405020304" pitchFamily="18" charset="0"/>
              </a:rPr>
              <a:t>Configure the Gateway</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During installation, sign in with your Power BI account and register the gateway.</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Ensure the gateway service runs continuously and has network access to the shared drive location.</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050" b="1" kern="0">
                <a:effectLst/>
                <a:latin typeface="Times New Roman" panose="02020603050405020304" pitchFamily="18" charset="0"/>
                <a:ea typeface="Times New Roman" panose="02020603050405020304" pitchFamily="18" charset="0"/>
                <a:cs typeface="Times New Roman" panose="02020603050405020304" pitchFamily="18" charset="0"/>
              </a:rPr>
              <a:t>Set proper permissions</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The gateway service account must have </a:t>
            </a:r>
            <a:r>
              <a:rPr lang="en-US" sz="1050" b="1" kern="0">
                <a:effectLst/>
                <a:latin typeface="Times New Roman" panose="02020603050405020304" pitchFamily="18" charset="0"/>
                <a:ea typeface="Times New Roman" panose="02020603050405020304" pitchFamily="18" charset="0"/>
                <a:cs typeface="Times New Roman" panose="02020603050405020304" pitchFamily="18" charset="0"/>
              </a:rPr>
              <a:t>read access</a:t>
            </a: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 to the shared drive folder where the dataset files (e.g., Excel, CSV) reside.</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050" b="1" kern="0">
                <a:effectLst/>
                <a:latin typeface="Times New Roman" panose="02020603050405020304" pitchFamily="18" charset="0"/>
                <a:ea typeface="Times New Roman" panose="02020603050405020304" pitchFamily="18" charset="0"/>
                <a:cs typeface="Times New Roman" panose="02020603050405020304" pitchFamily="18" charset="0"/>
              </a:rPr>
              <a:t>Publish your Power BI report</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Publish your Power BI report from Power BI Desktop to the Power BI Service.</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050" b="1" kern="0">
                <a:effectLst/>
                <a:latin typeface="Times New Roman" panose="02020603050405020304" pitchFamily="18" charset="0"/>
                <a:ea typeface="Times New Roman" panose="02020603050405020304" pitchFamily="18" charset="0"/>
                <a:cs typeface="Times New Roman" panose="02020603050405020304" pitchFamily="18" charset="0"/>
              </a:rPr>
              <a:t>Configure data source in Power BI Service</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In the Power BI Service portal, go to </a:t>
            </a:r>
            <a:r>
              <a:rPr lang="en-US" sz="1050" b="1" kern="0">
                <a:effectLst/>
                <a:latin typeface="Times New Roman" panose="02020603050405020304" pitchFamily="18" charset="0"/>
                <a:ea typeface="Times New Roman" panose="02020603050405020304" pitchFamily="18" charset="0"/>
                <a:cs typeface="Times New Roman" panose="02020603050405020304" pitchFamily="18" charset="0"/>
              </a:rPr>
              <a:t>Settings &gt; Gateways &gt; Manage Gateways</a:t>
            </a: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Add a new data source under your gateway with the connection type (e.g., Folder or File) pointing to the shared drive path (use UNC path like </a:t>
            </a:r>
            <a:r>
              <a:rPr lang="en-US" sz="1050" kern="0">
                <a:effectLst/>
                <a:latin typeface="Courier New" panose="02070309020205020404" pitchFamily="49" charset="0"/>
                <a:ea typeface="Times New Roman" panose="02020603050405020304" pitchFamily="18" charset="0"/>
                <a:cs typeface="Times New Roman" panose="02020603050405020304" pitchFamily="18" charset="0"/>
              </a:rPr>
              <a:t>\\ServerName\SharedFolder</a:t>
            </a: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Provide credentials (use Windows authentication or the gateway service account credentials).</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050" b="1" kern="0">
                <a:effectLst/>
                <a:latin typeface="Times New Roman" panose="02020603050405020304" pitchFamily="18" charset="0"/>
                <a:ea typeface="Times New Roman" panose="02020603050405020304" pitchFamily="18" charset="0"/>
                <a:cs typeface="Times New Roman" panose="02020603050405020304" pitchFamily="18" charset="0"/>
              </a:rPr>
              <a:t>Schedule Refresh</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Go to your dataset settings in Power BI Service.</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Under </a:t>
            </a:r>
            <a:r>
              <a:rPr lang="en-US" sz="1050" b="1" kern="0">
                <a:effectLst/>
                <a:latin typeface="Times New Roman" panose="02020603050405020304" pitchFamily="18" charset="0"/>
                <a:ea typeface="Times New Roman" panose="02020603050405020304" pitchFamily="18" charset="0"/>
                <a:cs typeface="Times New Roman" panose="02020603050405020304" pitchFamily="18" charset="0"/>
              </a:rPr>
              <a:t>Scheduled refresh</a:t>
            </a: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 enable it and set the refresh frequency (daily, hourly, etc.).</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Select the configured gateway as the data source for refresh.</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050" b="1" kern="0">
                <a:effectLst/>
                <a:latin typeface="Times New Roman" panose="02020603050405020304" pitchFamily="18" charset="0"/>
                <a:ea typeface="Times New Roman" panose="02020603050405020304" pitchFamily="18" charset="0"/>
                <a:cs typeface="Times New Roman" panose="02020603050405020304" pitchFamily="18" charset="0"/>
              </a:rPr>
              <a:t>Test refresh</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SzPts val="1000"/>
              <a:buFont typeface="Symbol" panose="05050102010706020507" pitchFamily="18" charset="2"/>
              <a:buChar char=""/>
              <a:tabLst>
                <a:tab pos="457200" algn="l"/>
              </a:tabLst>
            </a:pPr>
            <a:r>
              <a:rPr lang="en-US" sz="1050" kern="0">
                <a:effectLst/>
                <a:latin typeface="Times New Roman" panose="02020603050405020304" pitchFamily="18" charset="0"/>
                <a:ea typeface="Times New Roman" panose="02020603050405020304" pitchFamily="18" charset="0"/>
                <a:cs typeface="Times New Roman" panose="02020603050405020304" pitchFamily="18" charset="0"/>
              </a:rPr>
              <a:t>Manually trigger a refresh to verify that the gateway can access the shared drive and refresh the data successfully.</a:t>
            </a:r>
            <a:endParaRPr lang="en-NG" sz="1050" kern="100">
              <a:effectLst/>
              <a:latin typeface="Calibri" panose="020F0502020204030204" pitchFamily="34" charset="0"/>
              <a:ea typeface="Calibri" panose="020F0502020204030204" pitchFamily="34" charset="0"/>
              <a:cs typeface="Times New Roman" panose="02020603050405020304" pitchFamily="18" charset="0"/>
            </a:endParaRPr>
          </a:p>
          <a:p>
            <a:endParaRPr lang="en-NG" sz="1050"/>
          </a:p>
        </p:txBody>
      </p:sp>
    </p:spTree>
    <p:extLst>
      <p:ext uri="{BB962C8B-B14F-4D97-AF65-F5344CB8AC3E}">
        <p14:creationId xmlns:p14="http://schemas.microsoft.com/office/powerpoint/2010/main" val="2512383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p:nvPr/>
        </p:nvSpPr>
        <p:spPr>
          <a:xfrm>
            <a:off x="160200" y="185057"/>
            <a:ext cx="8823600" cy="4855029"/>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aphicFrame>
        <p:nvGraphicFramePr>
          <p:cNvPr id="4" name="Table 3">
            <a:extLst>
              <a:ext uri="{FF2B5EF4-FFF2-40B4-BE49-F238E27FC236}">
                <a16:creationId xmlns:a16="http://schemas.microsoft.com/office/drawing/2014/main" id="{0C0F95FD-AD65-4120-8D3A-0D1E610CA0D0}"/>
              </a:ext>
            </a:extLst>
          </p:cNvPr>
          <p:cNvGraphicFramePr>
            <a:graphicFrameLocks noGrp="1"/>
          </p:cNvGraphicFramePr>
          <p:nvPr/>
        </p:nvGraphicFramePr>
        <p:xfrm>
          <a:off x="859972" y="1306285"/>
          <a:ext cx="7704000" cy="588337"/>
        </p:xfrm>
        <a:graphic>
          <a:graphicData uri="http://schemas.openxmlformats.org/drawingml/2006/table">
            <a:tbl>
              <a:tblPr/>
              <a:tblGrid>
                <a:gridCol w="2568000">
                  <a:extLst>
                    <a:ext uri="{9D8B030D-6E8A-4147-A177-3AD203B41FA5}">
                      <a16:colId xmlns:a16="http://schemas.microsoft.com/office/drawing/2014/main" val="4040686356"/>
                    </a:ext>
                  </a:extLst>
                </a:gridCol>
                <a:gridCol w="2568000">
                  <a:extLst>
                    <a:ext uri="{9D8B030D-6E8A-4147-A177-3AD203B41FA5}">
                      <a16:colId xmlns:a16="http://schemas.microsoft.com/office/drawing/2014/main" val="3845146046"/>
                    </a:ext>
                  </a:extLst>
                </a:gridCol>
                <a:gridCol w="2568000">
                  <a:extLst>
                    <a:ext uri="{9D8B030D-6E8A-4147-A177-3AD203B41FA5}">
                      <a16:colId xmlns:a16="http://schemas.microsoft.com/office/drawing/2014/main" val="3770243105"/>
                    </a:ext>
                  </a:extLst>
                </a:gridCol>
              </a:tblGrid>
              <a:tr h="588337">
                <a:tc>
                  <a:txBody>
                    <a:bodyPr/>
                    <a:lstStyle/>
                    <a:p>
                      <a:endParaRPr lang="en-GB" sz="1200"/>
                    </a:p>
                  </a:txBody>
                  <a:tcPr marL="77059" marR="77059" marT="38530" marB="38530" anchor="ctr">
                    <a:lnL>
                      <a:noFill/>
                    </a:lnL>
                    <a:lnR>
                      <a:noFill/>
                    </a:lnR>
                    <a:lnT>
                      <a:noFill/>
                    </a:lnT>
                    <a:lnB>
                      <a:noFill/>
                    </a:lnB>
                  </a:tcPr>
                </a:tc>
                <a:tc>
                  <a:txBody>
                    <a:bodyPr/>
                    <a:lstStyle/>
                    <a:p>
                      <a:endParaRPr lang="en-GB" sz="1200"/>
                    </a:p>
                  </a:txBody>
                  <a:tcPr marL="77059" marR="77059" marT="38530" marB="38530" anchor="ctr">
                    <a:lnL>
                      <a:noFill/>
                    </a:lnL>
                    <a:lnR>
                      <a:noFill/>
                    </a:lnR>
                    <a:lnT>
                      <a:noFill/>
                    </a:lnT>
                    <a:lnB>
                      <a:noFill/>
                    </a:lnB>
                  </a:tcPr>
                </a:tc>
                <a:tc>
                  <a:txBody>
                    <a:bodyPr/>
                    <a:lstStyle/>
                    <a:p>
                      <a:endParaRPr lang="en-GB" sz="1200"/>
                    </a:p>
                  </a:txBody>
                  <a:tcPr marL="77059" marR="77059" marT="38530" marB="38530" anchor="ctr">
                    <a:lnL>
                      <a:noFill/>
                    </a:lnL>
                    <a:lnR>
                      <a:noFill/>
                    </a:lnR>
                    <a:lnT>
                      <a:noFill/>
                    </a:lnT>
                    <a:lnB>
                      <a:noFill/>
                    </a:lnB>
                  </a:tcPr>
                </a:tc>
                <a:extLst>
                  <a:ext uri="{0D108BD9-81ED-4DB2-BD59-A6C34878D82A}">
                    <a16:rowId xmlns:a16="http://schemas.microsoft.com/office/drawing/2014/main" val="2120941159"/>
                  </a:ext>
                </a:extLst>
              </a:tr>
            </a:tbl>
          </a:graphicData>
        </a:graphic>
      </p:graphicFrame>
      <p:sp>
        <p:nvSpPr>
          <p:cNvPr id="2" name="TextBox 1">
            <a:extLst>
              <a:ext uri="{FF2B5EF4-FFF2-40B4-BE49-F238E27FC236}">
                <a16:creationId xmlns:a16="http://schemas.microsoft.com/office/drawing/2014/main" id="{57A61D74-E096-480C-87BA-A1CD5EBC50BB}"/>
              </a:ext>
            </a:extLst>
          </p:cNvPr>
          <p:cNvSpPr txBox="1"/>
          <p:nvPr/>
        </p:nvSpPr>
        <p:spPr>
          <a:xfrm>
            <a:off x="223157" y="-97971"/>
            <a:ext cx="8697686" cy="5840060"/>
          </a:xfrm>
          <a:prstGeom prst="rect">
            <a:avLst/>
          </a:prstGeom>
          <a:noFill/>
        </p:spPr>
        <p:txBody>
          <a:bodyPr wrap="square" rtlCol="0">
            <a:spAutoFit/>
          </a:bodyPr>
          <a:lstStyle/>
          <a:p>
            <a:r>
              <a:rPr lang="en-GB" sz="1050" b="1"/>
              <a:t>40. </a:t>
            </a:r>
            <a:r>
              <a:rPr lang="en-GB" sz="1200"/>
              <a:t>How can you make Power BI automatically update its data using Power Automate or Azure Data Factory (ADF)?</a:t>
            </a:r>
          </a:p>
          <a:p>
            <a:r>
              <a:rPr lang="en-GB" sz="1200"/>
              <a:t>Describe how it works</a:t>
            </a:r>
          </a:p>
          <a:p>
            <a:r>
              <a:rPr lang="en-GB" sz="1050"/>
              <a:t>Automation means making Power BI update itself automatically  without you doing anything.</a:t>
            </a:r>
          </a:p>
          <a:p>
            <a:r>
              <a:rPr lang="en-GB" sz="1050"/>
              <a:t> </a:t>
            </a:r>
          </a:p>
          <a:p>
            <a:r>
              <a:rPr lang="en-GB" sz="1050"/>
              <a:t>To make sure a Power BI dashboard always shows the latest data, I would automate the process using Power Automate.</a:t>
            </a:r>
          </a:p>
          <a:p>
            <a:r>
              <a:rPr lang="en-GB" sz="1050"/>
              <a:t>It will check my data source (like Google Sheets) every morning, trigger a refresh in Power BI automatically, and send me a notification when the update is complete.</a:t>
            </a:r>
          </a:p>
          <a:p>
            <a:r>
              <a:rPr lang="en-GB" sz="1050"/>
              <a:t> </a:t>
            </a:r>
          </a:p>
          <a:p>
            <a:r>
              <a:rPr lang="en-GB" sz="1050"/>
              <a:t>For larger systems, Azure Data Factory can be used to move and clean data before sending it to Power BI for automatic refresh.</a:t>
            </a:r>
          </a:p>
          <a:p>
            <a:r>
              <a:rPr lang="en-GB" sz="1050"/>
              <a:t> </a:t>
            </a:r>
          </a:p>
          <a:p>
            <a:r>
              <a:rPr lang="en-GB" sz="1050"/>
              <a:t>This automation saves time, reduces manual errors, and ensures the dashboard always shows real-time information.</a:t>
            </a:r>
            <a:br>
              <a:rPr lang="en-GB" sz="1050"/>
            </a:br>
            <a:r>
              <a:rPr lang="en-GB" sz="1050"/>
              <a:t>Power Automate is part of Microsoft’s Power Platform (along with Power BI and Power Apps).</a:t>
            </a:r>
          </a:p>
          <a:p>
            <a:r>
              <a:rPr lang="en-GB" sz="1050"/>
              <a:t>It’s available online, so you don’t have to install anything.</a:t>
            </a:r>
          </a:p>
          <a:p>
            <a:r>
              <a:rPr lang="en-GB" sz="1050"/>
              <a:t> </a:t>
            </a:r>
          </a:p>
          <a:p>
            <a:r>
              <a:rPr lang="en-GB" sz="1050"/>
              <a:t>🌐 To open Power Automate:</a:t>
            </a:r>
          </a:p>
          <a:p>
            <a:r>
              <a:rPr lang="en-GB" sz="1050"/>
              <a:t> </a:t>
            </a:r>
          </a:p>
          <a:p>
            <a:r>
              <a:rPr lang="en-GB" sz="1050"/>
              <a:t>1. Go to your browser and type 👉 </a:t>
            </a:r>
            <a:r>
              <a:rPr lang="en-GB" sz="1050">
                <a:hlinkClick r:id="rId3" tooltip="https://flow.microsoft.com/"/>
              </a:rPr>
              <a:t>https://flow.microsoft.com</a:t>
            </a:r>
            <a:endParaRPr lang="en-GB" sz="1050"/>
          </a:p>
          <a:p>
            <a:r>
              <a:rPr lang="en-GB" sz="1050"/>
              <a:t>(or you can Google “Power Automate”)</a:t>
            </a:r>
          </a:p>
          <a:p>
            <a:r>
              <a:rPr lang="en-GB" sz="1050"/>
              <a:t> </a:t>
            </a:r>
          </a:p>
          <a:p>
            <a:r>
              <a:rPr lang="en-GB" sz="1050"/>
              <a:t> </a:t>
            </a:r>
          </a:p>
          <a:p>
            <a:r>
              <a:rPr lang="en-GB" sz="1050"/>
              <a:t>2. Sign in with your Microsoft (Outlook or organizational) account — the same one you use for Power BI.</a:t>
            </a:r>
          </a:p>
          <a:p>
            <a:r>
              <a:rPr lang="en-GB" sz="1050"/>
              <a:t> </a:t>
            </a:r>
          </a:p>
          <a:p>
            <a:r>
              <a:rPr lang="en-GB" sz="1050"/>
              <a:t> </a:t>
            </a:r>
          </a:p>
          <a:p>
            <a:r>
              <a:rPr lang="en-GB" sz="1050"/>
              <a:t>3. You’ll now be inside the Power Automate dashboard where you can:</a:t>
            </a:r>
          </a:p>
          <a:p>
            <a:r>
              <a:rPr lang="en-GB" sz="1050"/>
              <a:t> </a:t>
            </a:r>
          </a:p>
          <a:p>
            <a:r>
              <a:rPr lang="en-GB" sz="1050"/>
              <a:t>Create new flows (automated tasks),</a:t>
            </a:r>
          </a:p>
          <a:p>
            <a:r>
              <a:rPr lang="en-GB" sz="1050"/>
              <a:t> </a:t>
            </a:r>
          </a:p>
          <a:p>
            <a:r>
              <a:rPr lang="en-GB" sz="1050"/>
              <a:t>View your existing flows, and</a:t>
            </a:r>
          </a:p>
          <a:p>
            <a:r>
              <a:rPr lang="en-GB" sz="1050"/>
              <a:t> </a:t>
            </a:r>
          </a:p>
          <a:p>
            <a:r>
              <a:rPr lang="en-GB" sz="1050"/>
              <a:t>Track activity and errors.</a:t>
            </a:r>
          </a:p>
          <a:p>
            <a:r>
              <a:rPr lang="en-GB" sz="1050"/>
              <a:t> </a:t>
            </a:r>
          </a:p>
          <a:p>
            <a:endParaRPr lang="en-GB" sz="1200"/>
          </a:p>
          <a:p>
            <a:r>
              <a:rPr lang="en-GB" sz="1200"/>
              <a:t> </a:t>
            </a:r>
          </a:p>
          <a:p>
            <a:endParaRPr lang="en-NG" sz="1050" b="1"/>
          </a:p>
        </p:txBody>
      </p:sp>
    </p:spTree>
    <p:extLst>
      <p:ext uri="{BB962C8B-B14F-4D97-AF65-F5344CB8AC3E}">
        <p14:creationId xmlns:p14="http://schemas.microsoft.com/office/powerpoint/2010/main" val="3054866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p:nvPr/>
        </p:nvSpPr>
        <p:spPr>
          <a:xfrm>
            <a:off x="160200" y="185057"/>
            <a:ext cx="8823600" cy="4855029"/>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aphicFrame>
        <p:nvGraphicFramePr>
          <p:cNvPr id="4" name="Table 3">
            <a:extLst>
              <a:ext uri="{FF2B5EF4-FFF2-40B4-BE49-F238E27FC236}">
                <a16:creationId xmlns:a16="http://schemas.microsoft.com/office/drawing/2014/main" id="{0C0F95FD-AD65-4120-8D3A-0D1E610CA0D0}"/>
              </a:ext>
            </a:extLst>
          </p:cNvPr>
          <p:cNvGraphicFramePr>
            <a:graphicFrameLocks noGrp="1"/>
          </p:cNvGraphicFramePr>
          <p:nvPr/>
        </p:nvGraphicFramePr>
        <p:xfrm>
          <a:off x="859972" y="1306285"/>
          <a:ext cx="7704000" cy="588337"/>
        </p:xfrm>
        <a:graphic>
          <a:graphicData uri="http://schemas.openxmlformats.org/drawingml/2006/table">
            <a:tbl>
              <a:tblPr/>
              <a:tblGrid>
                <a:gridCol w="2568000">
                  <a:extLst>
                    <a:ext uri="{9D8B030D-6E8A-4147-A177-3AD203B41FA5}">
                      <a16:colId xmlns:a16="http://schemas.microsoft.com/office/drawing/2014/main" val="4040686356"/>
                    </a:ext>
                  </a:extLst>
                </a:gridCol>
                <a:gridCol w="2568000">
                  <a:extLst>
                    <a:ext uri="{9D8B030D-6E8A-4147-A177-3AD203B41FA5}">
                      <a16:colId xmlns:a16="http://schemas.microsoft.com/office/drawing/2014/main" val="3845146046"/>
                    </a:ext>
                  </a:extLst>
                </a:gridCol>
                <a:gridCol w="2568000">
                  <a:extLst>
                    <a:ext uri="{9D8B030D-6E8A-4147-A177-3AD203B41FA5}">
                      <a16:colId xmlns:a16="http://schemas.microsoft.com/office/drawing/2014/main" val="3770243105"/>
                    </a:ext>
                  </a:extLst>
                </a:gridCol>
              </a:tblGrid>
              <a:tr h="588337">
                <a:tc>
                  <a:txBody>
                    <a:bodyPr/>
                    <a:lstStyle/>
                    <a:p>
                      <a:endParaRPr lang="en-GB" sz="1200"/>
                    </a:p>
                  </a:txBody>
                  <a:tcPr marL="77059" marR="77059" marT="38530" marB="38530" anchor="ctr">
                    <a:lnL>
                      <a:noFill/>
                    </a:lnL>
                    <a:lnR>
                      <a:noFill/>
                    </a:lnR>
                    <a:lnT>
                      <a:noFill/>
                    </a:lnT>
                    <a:lnB>
                      <a:noFill/>
                    </a:lnB>
                  </a:tcPr>
                </a:tc>
                <a:tc>
                  <a:txBody>
                    <a:bodyPr/>
                    <a:lstStyle/>
                    <a:p>
                      <a:endParaRPr lang="en-GB" sz="1200"/>
                    </a:p>
                  </a:txBody>
                  <a:tcPr marL="77059" marR="77059" marT="38530" marB="38530" anchor="ctr">
                    <a:lnL>
                      <a:noFill/>
                    </a:lnL>
                    <a:lnR>
                      <a:noFill/>
                    </a:lnR>
                    <a:lnT>
                      <a:noFill/>
                    </a:lnT>
                    <a:lnB>
                      <a:noFill/>
                    </a:lnB>
                  </a:tcPr>
                </a:tc>
                <a:tc>
                  <a:txBody>
                    <a:bodyPr/>
                    <a:lstStyle/>
                    <a:p>
                      <a:endParaRPr lang="en-GB" sz="1200"/>
                    </a:p>
                  </a:txBody>
                  <a:tcPr marL="77059" marR="77059" marT="38530" marB="38530" anchor="ctr">
                    <a:lnL>
                      <a:noFill/>
                    </a:lnL>
                    <a:lnR>
                      <a:noFill/>
                    </a:lnR>
                    <a:lnT>
                      <a:noFill/>
                    </a:lnT>
                    <a:lnB>
                      <a:noFill/>
                    </a:lnB>
                  </a:tcPr>
                </a:tc>
                <a:extLst>
                  <a:ext uri="{0D108BD9-81ED-4DB2-BD59-A6C34878D82A}">
                    <a16:rowId xmlns:a16="http://schemas.microsoft.com/office/drawing/2014/main" val="2120941159"/>
                  </a:ext>
                </a:extLst>
              </a:tr>
            </a:tbl>
          </a:graphicData>
        </a:graphic>
      </p:graphicFrame>
      <p:sp>
        <p:nvSpPr>
          <p:cNvPr id="2" name="TextBox 1">
            <a:extLst>
              <a:ext uri="{FF2B5EF4-FFF2-40B4-BE49-F238E27FC236}">
                <a16:creationId xmlns:a16="http://schemas.microsoft.com/office/drawing/2014/main" id="{57A61D74-E096-480C-87BA-A1CD5EBC50BB}"/>
              </a:ext>
            </a:extLst>
          </p:cNvPr>
          <p:cNvSpPr txBox="1"/>
          <p:nvPr/>
        </p:nvSpPr>
        <p:spPr>
          <a:xfrm>
            <a:off x="223157" y="185057"/>
            <a:ext cx="8697686" cy="4555093"/>
          </a:xfrm>
          <a:prstGeom prst="rect">
            <a:avLst/>
          </a:prstGeom>
          <a:noFill/>
        </p:spPr>
        <p:txBody>
          <a:bodyPr wrap="square" rtlCol="0">
            <a:spAutoFit/>
          </a:bodyPr>
          <a:lstStyle/>
          <a:p>
            <a:r>
              <a:rPr lang="en-GB" sz="1000"/>
              <a:t>Understanding “Flows” and “Triggers”</a:t>
            </a:r>
          </a:p>
          <a:p>
            <a:r>
              <a:rPr lang="en-GB" sz="1000"/>
              <a:t> </a:t>
            </a:r>
          </a:p>
          <a:p>
            <a:r>
              <a:rPr lang="en-GB" sz="1000"/>
              <a:t>In Power Automate, automation works through flows.</a:t>
            </a:r>
          </a:p>
          <a:p>
            <a:r>
              <a:rPr lang="en-GB" sz="1000"/>
              <a:t> </a:t>
            </a:r>
          </a:p>
          <a:p>
            <a:r>
              <a:rPr lang="en-GB" sz="1000"/>
              <a:t>A flow = Trigger + Actions</a:t>
            </a:r>
          </a:p>
          <a:p>
            <a:r>
              <a:rPr lang="en-GB" sz="1000"/>
              <a:t> </a:t>
            </a:r>
          </a:p>
          <a:p>
            <a:r>
              <a:rPr lang="en-GB" sz="1000"/>
              <a:t>Trigger = what starts the automation (e.g., “every morning at 7:00 AM” or “when a file is updated”)</a:t>
            </a:r>
          </a:p>
          <a:p>
            <a:r>
              <a:rPr lang="en-GB" sz="1000"/>
              <a:t> </a:t>
            </a:r>
          </a:p>
          <a:p>
            <a:r>
              <a:rPr lang="en-GB" sz="1000"/>
              <a:t>Actions = what happens after the trigger (e.g., “refresh Power BI dataset” or “send me an email”)</a:t>
            </a:r>
          </a:p>
          <a:p>
            <a:r>
              <a:rPr lang="en-GB" sz="1000"/>
              <a:t> </a:t>
            </a:r>
          </a:p>
          <a:p>
            <a:r>
              <a:rPr lang="en-GB" sz="1000"/>
              <a:t> How to Create a Simple Scheduled Flow (Example for Power BI)</a:t>
            </a:r>
          </a:p>
          <a:p>
            <a:r>
              <a:rPr lang="en-GB" sz="1000"/>
              <a:t>  Goal:</a:t>
            </a:r>
          </a:p>
          <a:p>
            <a:r>
              <a:rPr lang="en-GB" sz="1000"/>
              <a:t> You want Power Automate to refresh your Power BI dataset every morning automatically.</a:t>
            </a:r>
          </a:p>
          <a:p>
            <a:r>
              <a:rPr lang="en-GB" sz="1000"/>
              <a:t> </a:t>
            </a:r>
            <a:endParaRPr lang="en-GB" sz="1000" b="1"/>
          </a:p>
          <a:p>
            <a:r>
              <a:rPr lang="en-GB" sz="1000" b="1"/>
              <a:t>Step-by-step:</a:t>
            </a:r>
          </a:p>
          <a:p>
            <a:r>
              <a:rPr lang="en-GB" sz="1000"/>
              <a:t> </a:t>
            </a:r>
          </a:p>
          <a:p>
            <a:r>
              <a:rPr lang="en-GB" sz="1000"/>
              <a:t>1. From the Power Automate homepage, click on “Create” (left side of the screen).</a:t>
            </a:r>
          </a:p>
          <a:p>
            <a:r>
              <a:rPr lang="en-GB" sz="1000"/>
              <a:t> 2. Select “Scheduled cloud flow”.</a:t>
            </a:r>
          </a:p>
          <a:p>
            <a:r>
              <a:rPr lang="en-GB" sz="1000"/>
              <a:t> 3. Give it a name like:</a:t>
            </a:r>
          </a:p>
          <a:p>
            <a:r>
              <a:rPr lang="en-GB" sz="1000"/>
              <a:t>“Daily Power BI Refresh”</a:t>
            </a:r>
          </a:p>
          <a:p>
            <a:r>
              <a:rPr lang="en-GB" sz="1000"/>
              <a:t> 4. Set your schedule:</a:t>
            </a:r>
          </a:p>
          <a:p>
            <a:r>
              <a:rPr lang="en-GB" sz="1000"/>
              <a:t> </a:t>
            </a:r>
          </a:p>
          <a:p>
            <a:r>
              <a:rPr lang="en-GB" sz="1000"/>
              <a:t>Start time: choose today’s date/time</a:t>
            </a:r>
          </a:p>
          <a:p>
            <a:r>
              <a:rPr lang="en-GB" sz="1000"/>
              <a:t> </a:t>
            </a:r>
          </a:p>
          <a:p>
            <a:r>
              <a:rPr lang="en-GB" sz="1000"/>
              <a:t>Repeat every: 1 day</a:t>
            </a:r>
          </a:p>
          <a:p>
            <a:r>
              <a:rPr lang="en-GB" sz="1000"/>
              <a:t> </a:t>
            </a:r>
          </a:p>
          <a:p>
            <a:r>
              <a:rPr lang="en-GB" sz="1000"/>
              <a:t> 5. Click Create.</a:t>
            </a:r>
          </a:p>
          <a:p>
            <a:endParaRPr lang="en-NG" sz="1000" b="1"/>
          </a:p>
        </p:txBody>
      </p:sp>
    </p:spTree>
    <p:extLst>
      <p:ext uri="{BB962C8B-B14F-4D97-AF65-F5344CB8AC3E}">
        <p14:creationId xmlns:p14="http://schemas.microsoft.com/office/powerpoint/2010/main" val="4044966983"/>
      </p:ext>
    </p:extLst>
  </p:cSld>
  <p:clrMapOvr>
    <a:masterClrMapping/>
  </p:clrMapOvr>
</p:sld>
</file>

<file path=ppt/theme/theme1.xml><?xml version="1.0" encoding="utf-8"?>
<a:theme xmlns:a="http://schemas.openxmlformats.org/drawingml/2006/main" name="Thesis Proposal and Writing - Master of Arts in History by Slidesgo">
  <a:themeElements>
    <a:clrScheme name="Simple Light">
      <a:dk1>
        <a:srgbClr val="363633"/>
      </a:dk1>
      <a:lt1>
        <a:srgbClr val="F3F6EF"/>
      </a:lt1>
      <a:dk2>
        <a:srgbClr val="F3EDDF"/>
      </a:dk2>
      <a:lt2>
        <a:srgbClr val="D6C3B5"/>
      </a:lt2>
      <a:accent1>
        <a:srgbClr val="89A6A5"/>
      </a:accent1>
      <a:accent2>
        <a:srgbClr val="76858B"/>
      </a:accent2>
      <a:accent3>
        <a:srgbClr val="F9FBFD"/>
      </a:accent3>
      <a:accent4>
        <a:srgbClr val="FFFFFF"/>
      </a:accent4>
      <a:accent5>
        <a:srgbClr val="FFFFFF"/>
      </a:accent5>
      <a:accent6>
        <a:srgbClr val="FFFFFF"/>
      </a:accent6>
      <a:hlink>
        <a:srgbClr val="3636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13</Slides>
  <Notes>13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Thesis Proposal and Writing - Master of Arts in History by Slidesgo</vt:lpstr>
      <vt:lpstr>Group c Electricity Utility Power Bi Mini Project</vt:lpstr>
      <vt:lpstr>Power BI is a business intelligence (BI) tool developed by Microsoft that helps one connect, visualize, and share data in an interactive and dynamic way. It is a great tool to tell data story by creating dynamic visuals. It can take data from multiple sources including Excel sheets, SQL databases, online platforms, etc.  It makes use of ETL(Extract Transform Load) MODEL for analysis while it uses a code know as M Language which makes it preform complex problems with DAX and Power Query</vt:lpstr>
      <vt:lpstr>POWER BI VS EXCEL</vt:lpstr>
      <vt:lpstr>2.What are the steps to load a CSV file into Power BI? </vt:lpstr>
      <vt:lpstr>Power Query vs Data 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c Electricity utility power Bi Mini project</dc:title>
  <dc:creator>DELL</dc:creator>
  <cp:revision>2</cp:revision>
  <dcterms:modified xsi:type="dcterms:W3CDTF">2025-11-21T08:31:28Z</dcterms:modified>
</cp:coreProperties>
</file>